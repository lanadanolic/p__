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Treća vježba. Danas mjerimo koliko je program stvarno brži i to uspoređujemo s Amdahlovim zakonom s predavanja. Usput upoznajemo dvije zamke: lošu podjelu posla i premale zadatke. Bez lock i Interlocked; to dolazi idući tjedan.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Okruženje je isto kao na prošlim vježbama. Provjerite da imate .NET 10 SDK: naredba dotnet --list-sdks. Otvorite Vjezba3.sln; svaki zadatak je zaseban projekt, pa odaberite onaj na kojem radite. U svim zadacima mjerimo vrijeme, zato pokrećite u Release konfiguraciji. Tko ima samo Visual Studio 2022, u .csproj datoteci svakog zadatka promijeni net10.0 u net8.0.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s predavanja, ovdje u oznakama vježbe. Ubrzanje S je T(1) kroz T(k), a T(1) je vrijeme istog programa s jednim taskom. Amdahl uz slijedni udio f daje gornju granicu. Karp–Flatt ide obrnuto: iz izmjerenog S računa slijedni udio e. Kako ga čitati: ako je e isti za svaki k, ubrzanje ograničava slijedni dio. Ako e raste s k, ograničavaju tara i hardver. Primjer: f = 0,1, četiri taska, izmjereno S = 2,88. Jedan kroz 2,88 je 0,347; oduzmemo četvrtinu i podijelimo s tri četvrtine: e je otprilike 0,13. Na predavanju smo umjesto f pisali 1 − P, a umjesto k N.</a:t>
            </a:r>
          </a:p>
          <a:p/>
          <a:p>
            <a:r>
              <a:t>Pokazati: Vizualizacije/tri_zakona.html i Vizualizacije/zakoni.html (kalkulator).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Mjerenje vremena je pokus, pa ga radimo pažljivo. Release, jer je Debug sporiji. Zagrijavanje prije mjerenja, jer je prvo pokretanje sporije. Najkraće od tri ili pet mjerenja, jer drugi programi mogu program samo usporiti, a ne ubrzati. U .csproj datotekama je isključeno višerazinsko prevođenje, pa se metode odmah prevode optimizirano. I računajte sa šumom: vremena se mijenjaju za nekoliko posto, pa S ponekad ispadne malo veći od k, a e malo negativan. To nije greška. Gledajte oblik rezultata, a ne točne brojeve.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 drugi zadatak trebate znati koliko je radio svaki task. Sat pokrećemo unutar taska, pa mjeri samo njegov posao. Svaki task upisuje svoje vrijeme u svoj element polja, pa nema data racea. Pazite na indeks: j kopiramo u lokalnu varijablu, kao kod zamke A s vježbe 2. Bez kopije svi taskovi dijele isti j, koji je nakon petlje k, i dobijemo indeks izvan polja. Ukupno vrijeme jednako je vremenu najsporijeg taska.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Parallel.Invoke prima nekoliko akcija i izvodi ih, po mogućnosti istodobno. Završava tek kad su sve gotove, a redoslijed nije zajamčen. Akcija nema povratnu vrijednost, pa rezultat upisuje u varijablu, i to svaka u svoju, prema Bernsteinovim uvjetima s predavanja. To je paralelizam zadataka: različiti poslovi istodobno. Isto kao Paralelno&lt;T, U&gt; s vježbe 2, ali za bilo koliko poslova.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ParallelOptions preko MaxDegreeOfParallelism zadaje koliko iteracija ili akcija smije raditi istodobno. Minus jedan znači bez ograničenja. Trebat će nam dvaput: za poštenu usporedbu dviju podjela posla na istom broju niti i za pokus što bi bilo kad bismo imali samo dvije jezgre.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Treći alat su rasponi. Partitioner.Create od nula do n dijeli indekse na raspone. Parallel.ForEach tada poziva delegat jednom po rasponu, a unutra je obična petlja. Item1 je početak raspona i uključen je, Item2 je kraj i nije uključen. Treći argument zadaje veličinu raspona. Pitanje za treći zadatak: koja je veličina dobra?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Prvi zadatak. Program zbraja brojeve od 1 do dvije milijarde. Prvih f puta N brojeva mora se zbrojiti slijedno, a ostatak smijete podijeliti na k taskova. Napišite Program(f, k), izmjerite za tri vrijednosti f i pet vrijednosti k, i uz svaki S ispišite Amdahlovo predviđanje i e. Primjer desno je za f = 0,1 s mog računala; vaši brojevi bit će drukčiji, ali zbroj mora uvijek biti ispravan. Na kraju pitanje: ostaje li e blizu f kad k raste, i gdje je razlika najveća?</a:t>
            </a:r>
          </a:p>
          <a:p/>
          <a:p>
            <a:r>
              <a:t>Pokazati: Vizualizacije/zakoni.html, odjeljak 1: upisati izmjerene S i usporediti 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Drugi zadatak: brojanje prostih brojeva do pet milijuna na četiri taska. Provjera je li broj prost traje dulje što je broj veći. Najprije podijelite raspon na četiri jednaka dijela i izmjerite koliko je radio svaki task. U primjeru se vremena jako razlikuju. Zašto? I koliko dugo čekaju taskovi koji su prvi gotovi? Zatim popravite podjelu tako da svi rade približno jednako dugo, i dalje na najviše četiri niti, da usporedba bude poštena.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Treći zadatak: polje od milijun brojeva i funkcija koja po elementu traje svega nekoliko nanosekundi. Najprije Parallel.For u kojem je svaki element jedna iteracija. Zatim rasponi s Partitioner.Create i obična petlja unutar raspona. Na kraju isprobajte veličine raspona od deset do petsto tisuća. Kratka mjerenja jako variraju, pa uspoređujte redove veličine. Pitanje: zašto su i premali i preveliki rasponi lošiji?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Četvrti zadatak je primjer s pet naredbi s predavanja, sada kao program. Svaka naredba traje jednu jedinicu, oko desetinke sekunde. Prvo S2, S3 i S4 istodobno s Parallel.Invoke; usporedite izmjereno s Amdahlom uz N = 3, jer istodobno rade tri naredbe. Zatim neka q traje tri jedinice. Prije mjerenja zapišite dva predviđanja: Amdahlovo i ono iz grafa ovisnosti. Na kraju ograničite na dvije niti, kao da računalo ima samo dvije jezgre; opet najprije predviđanje, pa mjerenje. Primjer ispisa je samo za prvi korak, da predviđanje bude vaše.</a:t>
            </a:r>
          </a:p>
          <a:p/>
          <a:p>
            <a:r>
              <a:t>Pokazati: Tjedan 01 - Uvod/Vizualizacije/amdahl.html, odjeljak »Primjer: pet naredbi«; Vizualizacije/tri_zakona.html, odjeljak 2 tek nakon koraka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 glagola za danas. Izmjeriti: ubrzanje programa, usporediti ga s Amdahlom i iz mjerenja procijeniti slijedni udio. Podijeliti: posao tako da nitko ne čeka predugo. Odmjeriti: koliko posla dati jednom zadatku, ni premalo ni previše. U kodu su nova tri alata: Parallel.Invoke, ParallelOptions i rasponi. Pokazat ću ih prije zadataka.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Izvori: dokumentacija Microsoft Learn za Parallel.Invoke, ParallelOptions, Partitioner i višerazinsko prevođenje te rad Karpa i Flatta iz 1990. za metriku e. Idući tjedan: data race, lock i Interlocked.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937A1-8BDF-464D-E0C9-37DE2473F9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r-HR"/>
          </a:p>
        </p:txBody>
      </p:sp>
      <p:sp>
        <p:nvSpPr>
          <p:cNvPr id="3" name="Subtitle 2">
            <a:extLst>
              <a:ext uri="{FF2B5EF4-FFF2-40B4-BE49-F238E27FC236}">
                <a16:creationId xmlns:a16="http://schemas.microsoft.com/office/drawing/2014/main" id="{AA5253BA-EBD5-10B8-ACB3-CC013005A3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r-HR"/>
          </a:p>
        </p:txBody>
      </p:sp>
      <p:sp>
        <p:nvSpPr>
          <p:cNvPr id="4" name="Date Placeholder 3">
            <a:extLst>
              <a:ext uri="{FF2B5EF4-FFF2-40B4-BE49-F238E27FC236}">
                <a16:creationId xmlns:a16="http://schemas.microsoft.com/office/drawing/2014/main" id="{727B631E-2C88-7FD7-B085-D2811AD310A2}"/>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5" name="Footer Placeholder 4">
            <a:extLst>
              <a:ext uri="{FF2B5EF4-FFF2-40B4-BE49-F238E27FC236}">
                <a16:creationId xmlns:a16="http://schemas.microsoft.com/office/drawing/2014/main" id="{691CCCC9-0B19-0351-DBC6-33A8F341E1C7}"/>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4254ABD5-4453-BC9C-BD96-4B3085783ED1}"/>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3950752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6E6FF-59BE-21D3-1600-63FBCB68C1C5}"/>
              </a:ext>
            </a:extLst>
          </p:cNvPr>
          <p:cNvSpPr>
            <a:spLocks noGrp="1"/>
          </p:cNvSpPr>
          <p:nvPr>
            <p:ph type="title"/>
          </p:nvPr>
        </p:nvSpPr>
        <p:spPr/>
        <p:txBody>
          <a:bodyPr/>
          <a:lstStyle/>
          <a:p>
            <a:r>
              <a:rPr lang="en-US"/>
              <a:t>Click to edit Master title style</a:t>
            </a:r>
            <a:endParaRPr lang="hr-HR"/>
          </a:p>
        </p:txBody>
      </p:sp>
      <p:sp>
        <p:nvSpPr>
          <p:cNvPr id="3" name="Content Placeholder 2">
            <a:extLst>
              <a:ext uri="{FF2B5EF4-FFF2-40B4-BE49-F238E27FC236}">
                <a16:creationId xmlns:a16="http://schemas.microsoft.com/office/drawing/2014/main" id="{9ABC583F-AC47-1036-7A57-668ECD3775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F47A6299-E705-B57D-D302-7CA95850FD78}"/>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5" name="Footer Placeholder 4">
            <a:extLst>
              <a:ext uri="{FF2B5EF4-FFF2-40B4-BE49-F238E27FC236}">
                <a16:creationId xmlns:a16="http://schemas.microsoft.com/office/drawing/2014/main" id="{2D83B461-6502-2BB5-991F-3303C19F60FE}"/>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63530613-8424-6562-D3B6-65935B19E21B}"/>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3164221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71F12-418B-4BC1-8367-8B0831B2E5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r-HR"/>
          </a:p>
        </p:txBody>
      </p:sp>
      <p:sp>
        <p:nvSpPr>
          <p:cNvPr id="3" name="Text Placeholder 2">
            <a:extLst>
              <a:ext uri="{FF2B5EF4-FFF2-40B4-BE49-F238E27FC236}">
                <a16:creationId xmlns:a16="http://schemas.microsoft.com/office/drawing/2014/main" id="{00F082C1-EBB5-4A15-E845-B0514AEDBC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B4D525-30CC-F929-0321-32AF60A49AE0}"/>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5" name="Footer Placeholder 4">
            <a:extLst>
              <a:ext uri="{FF2B5EF4-FFF2-40B4-BE49-F238E27FC236}">
                <a16:creationId xmlns:a16="http://schemas.microsoft.com/office/drawing/2014/main" id="{8E49422D-FE9E-3BA3-18F0-855197380AEE}"/>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088F66F1-822E-F261-9298-1067ECCE8668}"/>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1867671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1F9AB-9028-BC70-F902-7B085282546F}"/>
              </a:ext>
            </a:extLst>
          </p:cNvPr>
          <p:cNvSpPr>
            <a:spLocks noGrp="1"/>
          </p:cNvSpPr>
          <p:nvPr>
            <p:ph type="title"/>
          </p:nvPr>
        </p:nvSpPr>
        <p:spPr/>
        <p:txBody>
          <a:bodyPr/>
          <a:lstStyle/>
          <a:p>
            <a:r>
              <a:rPr lang="en-US"/>
              <a:t>Click to edit Master title style</a:t>
            </a:r>
            <a:endParaRPr lang="hr-HR"/>
          </a:p>
        </p:txBody>
      </p:sp>
      <p:sp>
        <p:nvSpPr>
          <p:cNvPr id="3" name="Content Placeholder 2">
            <a:extLst>
              <a:ext uri="{FF2B5EF4-FFF2-40B4-BE49-F238E27FC236}">
                <a16:creationId xmlns:a16="http://schemas.microsoft.com/office/drawing/2014/main" id="{B74582AE-3B1F-1FB7-1E12-D9927C4A3E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Content Placeholder 3">
            <a:extLst>
              <a:ext uri="{FF2B5EF4-FFF2-40B4-BE49-F238E27FC236}">
                <a16:creationId xmlns:a16="http://schemas.microsoft.com/office/drawing/2014/main" id="{5E0C022B-E315-0FBA-5635-7E2685AB1A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Date Placeholder 4">
            <a:extLst>
              <a:ext uri="{FF2B5EF4-FFF2-40B4-BE49-F238E27FC236}">
                <a16:creationId xmlns:a16="http://schemas.microsoft.com/office/drawing/2014/main" id="{D307557C-CFB9-6286-41A3-D3062CD27464}"/>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6" name="Footer Placeholder 5">
            <a:extLst>
              <a:ext uri="{FF2B5EF4-FFF2-40B4-BE49-F238E27FC236}">
                <a16:creationId xmlns:a16="http://schemas.microsoft.com/office/drawing/2014/main" id="{2AAFC8F5-BEEB-A5CF-1D30-DA94E536B93E}"/>
              </a:ext>
            </a:extLst>
          </p:cNvPr>
          <p:cNvSpPr>
            <a:spLocks noGrp="1"/>
          </p:cNvSpPr>
          <p:nvPr>
            <p:ph type="ftr" sz="quarter" idx="11"/>
          </p:nvPr>
        </p:nvSpPr>
        <p:spPr/>
        <p:txBody>
          <a:bodyPr/>
          <a:lstStyle/>
          <a:p>
            <a:endParaRPr lang="hr-HR"/>
          </a:p>
        </p:txBody>
      </p:sp>
      <p:sp>
        <p:nvSpPr>
          <p:cNvPr id="7" name="Slide Number Placeholder 6">
            <a:extLst>
              <a:ext uri="{FF2B5EF4-FFF2-40B4-BE49-F238E27FC236}">
                <a16:creationId xmlns:a16="http://schemas.microsoft.com/office/drawing/2014/main" id="{DEC884AC-CFF0-1475-D021-3FEB58694A44}"/>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1684849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A1869-432A-6BD4-881C-E8FB6AB025A9}"/>
              </a:ext>
            </a:extLst>
          </p:cNvPr>
          <p:cNvSpPr>
            <a:spLocks noGrp="1"/>
          </p:cNvSpPr>
          <p:nvPr>
            <p:ph type="title"/>
          </p:nvPr>
        </p:nvSpPr>
        <p:spPr>
          <a:xfrm>
            <a:off x="839788" y="365125"/>
            <a:ext cx="10515600" cy="1325563"/>
          </a:xfrm>
        </p:spPr>
        <p:txBody>
          <a:bodyPr/>
          <a:lstStyle/>
          <a:p>
            <a:r>
              <a:rPr lang="en-US"/>
              <a:t>Click to edit Master title style</a:t>
            </a:r>
            <a:endParaRPr lang="hr-HR"/>
          </a:p>
        </p:txBody>
      </p:sp>
      <p:sp>
        <p:nvSpPr>
          <p:cNvPr id="3" name="Text Placeholder 2">
            <a:extLst>
              <a:ext uri="{FF2B5EF4-FFF2-40B4-BE49-F238E27FC236}">
                <a16:creationId xmlns:a16="http://schemas.microsoft.com/office/drawing/2014/main" id="{F08F81D8-01C0-D6D1-570A-2A52C819F4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07E58D-F572-8394-0E65-4D12ABD7CF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Text Placeholder 4">
            <a:extLst>
              <a:ext uri="{FF2B5EF4-FFF2-40B4-BE49-F238E27FC236}">
                <a16:creationId xmlns:a16="http://schemas.microsoft.com/office/drawing/2014/main" id="{B6B56DDD-83A6-D51C-5AFB-E3E86FD33E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6D9192-09E5-30B0-A24B-CA4CB67C68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7" name="Date Placeholder 6">
            <a:extLst>
              <a:ext uri="{FF2B5EF4-FFF2-40B4-BE49-F238E27FC236}">
                <a16:creationId xmlns:a16="http://schemas.microsoft.com/office/drawing/2014/main" id="{4A641EC6-74AE-09FC-3EC8-BB68421C325C}"/>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8" name="Footer Placeholder 7">
            <a:extLst>
              <a:ext uri="{FF2B5EF4-FFF2-40B4-BE49-F238E27FC236}">
                <a16:creationId xmlns:a16="http://schemas.microsoft.com/office/drawing/2014/main" id="{8C857A97-64C2-C9B6-E837-A7E089F03335}"/>
              </a:ext>
            </a:extLst>
          </p:cNvPr>
          <p:cNvSpPr>
            <a:spLocks noGrp="1"/>
          </p:cNvSpPr>
          <p:nvPr>
            <p:ph type="ftr" sz="quarter" idx="11"/>
          </p:nvPr>
        </p:nvSpPr>
        <p:spPr/>
        <p:txBody>
          <a:bodyPr/>
          <a:lstStyle/>
          <a:p>
            <a:endParaRPr lang="hr-HR"/>
          </a:p>
        </p:txBody>
      </p:sp>
      <p:sp>
        <p:nvSpPr>
          <p:cNvPr id="9" name="Slide Number Placeholder 8">
            <a:extLst>
              <a:ext uri="{FF2B5EF4-FFF2-40B4-BE49-F238E27FC236}">
                <a16:creationId xmlns:a16="http://schemas.microsoft.com/office/drawing/2014/main" id="{C60365B0-C920-6E14-A1F6-A7D7532563CF}"/>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339440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B48D-0BBE-48DD-F9E3-52086CBC692F}"/>
              </a:ext>
            </a:extLst>
          </p:cNvPr>
          <p:cNvSpPr>
            <a:spLocks noGrp="1"/>
          </p:cNvSpPr>
          <p:nvPr>
            <p:ph type="title"/>
          </p:nvPr>
        </p:nvSpPr>
        <p:spPr/>
        <p:txBody>
          <a:bodyPr/>
          <a:lstStyle/>
          <a:p>
            <a:r>
              <a:rPr lang="en-US"/>
              <a:t>Click to edit Master title style</a:t>
            </a:r>
            <a:endParaRPr lang="hr-HR"/>
          </a:p>
        </p:txBody>
      </p:sp>
      <p:sp>
        <p:nvSpPr>
          <p:cNvPr id="3" name="Date Placeholder 2">
            <a:extLst>
              <a:ext uri="{FF2B5EF4-FFF2-40B4-BE49-F238E27FC236}">
                <a16:creationId xmlns:a16="http://schemas.microsoft.com/office/drawing/2014/main" id="{F0C8D7CD-3366-523B-9475-472F63D6A430}"/>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4" name="Footer Placeholder 3">
            <a:extLst>
              <a:ext uri="{FF2B5EF4-FFF2-40B4-BE49-F238E27FC236}">
                <a16:creationId xmlns:a16="http://schemas.microsoft.com/office/drawing/2014/main" id="{6FE4A84B-16F3-FC98-5044-965C74C56187}"/>
              </a:ext>
            </a:extLst>
          </p:cNvPr>
          <p:cNvSpPr>
            <a:spLocks noGrp="1"/>
          </p:cNvSpPr>
          <p:nvPr>
            <p:ph type="ftr" sz="quarter" idx="11"/>
          </p:nvPr>
        </p:nvSpPr>
        <p:spPr/>
        <p:txBody>
          <a:bodyPr/>
          <a:lstStyle/>
          <a:p>
            <a:endParaRPr lang="hr-HR"/>
          </a:p>
        </p:txBody>
      </p:sp>
      <p:sp>
        <p:nvSpPr>
          <p:cNvPr id="5" name="Slide Number Placeholder 4">
            <a:extLst>
              <a:ext uri="{FF2B5EF4-FFF2-40B4-BE49-F238E27FC236}">
                <a16:creationId xmlns:a16="http://schemas.microsoft.com/office/drawing/2014/main" id="{BDAD29FA-5293-14ED-2C46-B9563074CF53}"/>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503476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A6D936-9A44-9913-5DBA-215F29210CCF}"/>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3" name="Footer Placeholder 2">
            <a:extLst>
              <a:ext uri="{FF2B5EF4-FFF2-40B4-BE49-F238E27FC236}">
                <a16:creationId xmlns:a16="http://schemas.microsoft.com/office/drawing/2014/main" id="{9A14FD84-BD3E-F48D-F818-F93F7E55DC59}"/>
              </a:ext>
            </a:extLst>
          </p:cNvPr>
          <p:cNvSpPr>
            <a:spLocks noGrp="1"/>
          </p:cNvSpPr>
          <p:nvPr>
            <p:ph type="ftr" sz="quarter" idx="11"/>
          </p:nvPr>
        </p:nvSpPr>
        <p:spPr/>
        <p:txBody>
          <a:bodyPr/>
          <a:lstStyle/>
          <a:p>
            <a:endParaRPr lang="hr-HR"/>
          </a:p>
        </p:txBody>
      </p:sp>
      <p:sp>
        <p:nvSpPr>
          <p:cNvPr id="4" name="Slide Number Placeholder 3">
            <a:extLst>
              <a:ext uri="{FF2B5EF4-FFF2-40B4-BE49-F238E27FC236}">
                <a16:creationId xmlns:a16="http://schemas.microsoft.com/office/drawing/2014/main" id="{12654E99-2735-5A88-16A4-412EFB778CE9}"/>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3124219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E8014-DA8B-0402-1029-634B5DA06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Content Placeholder 2">
            <a:extLst>
              <a:ext uri="{FF2B5EF4-FFF2-40B4-BE49-F238E27FC236}">
                <a16:creationId xmlns:a16="http://schemas.microsoft.com/office/drawing/2014/main" id="{EE0C6AF1-00B5-DF81-F77D-49D7358162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Text Placeholder 3">
            <a:extLst>
              <a:ext uri="{FF2B5EF4-FFF2-40B4-BE49-F238E27FC236}">
                <a16:creationId xmlns:a16="http://schemas.microsoft.com/office/drawing/2014/main" id="{2E7D857E-5D27-ADEC-A40C-F047EAC3DB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12D3F0-7291-180B-A979-7E2004FA6E45}"/>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6" name="Footer Placeholder 5">
            <a:extLst>
              <a:ext uri="{FF2B5EF4-FFF2-40B4-BE49-F238E27FC236}">
                <a16:creationId xmlns:a16="http://schemas.microsoft.com/office/drawing/2014/main" id="{136F2F26-5700-5A33-5B40-A59E1E807E4A}"/>
              </a:ext>
            </a:extLst>
          </p:cNvPr>
          <p:cNvSpPr>
            <a:spLocks noGrp="1"/>
          </p:cNvSpPr>
          <p:nvPr>
            <p:ph type="ftr" sz="quarter" idx="11"/>
          </p:nvPr>
        </p:nvSpPr>
        <p:spPr/>
        <p:txBody>
          <a:bodyPr/>
          <a:lstStyle/>
          <a:p>
            <a:endParaRPr lang="hr-HR"/>
          </a:p>
        </p:txBody>
      </p:sp>
      <p:sp>
        <p:nvSpPr>
          <p:cNvPr id="7" name="Slide Number Placeholder 6">
            <a:extLst>
              <a:ext uri="{FF2B5EF4-FFF2-40B4-BE49-F238E27FC236}">
                <a16:creationId xmlns:a16="http://schemas.microsoft.com/office/drawing/2014/main" id="{524157E4-3E1F-840C-70F5-DDE8654A8C35}"/>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2685335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2531-110C-2774-61D5-4B629B9CC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Picture Placeholder 2">
            <a:extLst>
              <a:ext uri="{FF2B5EF4-FFF2-40B4-BE49-F238E27FC236}">
                <a16:creationId xmlns:a16="http://schemas.microsoft.com/office/drawing/2014/main" id="{DB721B68-FED2-9E0F-4ED2-9B93A34506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Text Placeholder 3">
            <a:extLst>
              <a:ext uri="{FF2B5EF4-FFF2-40B4-BE49-F238E27FC236}">
                <a16:creationId xmlns:a16="http://schemas.microsoft.com/office/drawing/2014/main" id="{85097D0F-0672-E87B-7B18-E54D21258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0D9CFD-8D51-72C2-0B91-AA6C9341B5BE}"/>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6" name="Footer Placeholder 5">
            <a:extLst>
              <a:ext uri="{FF2B5EF4-FFF2-40B4-BE49-F238E27FC236}">
                <a16:creationId xmlns:a16="http://schemas.microsoft.com/office/drawing/2014/main" id="{44E1152A-76D9-2ED1-FA3B-946A62C40A1B}"/>
              </a:ext>
            </a:extLst>
          </p:cNvPr>
          <p:cNvSpPr>
            <a:spLocks noGrp="1"/>
          </p:cNvSpPr>
          <p:nvPr>
            <p:ph type="ftr" sz="quarter" idx="11"/>
          </p:nvPr>
        </p:nvSpPr>
        <p:spPr/>
        <p:txBody>
          <a:bodyPr/>
          <a:lstStyle/>
          <a:p>
            <a:endParaRPr lang="hr-HR"/>
          </a:p>
        </p:txBody>
      </p:sp>
      <p:sp>
        <p:nvSpPr>
          <p:cNvPr id="7" name="Slide Number Placeholder 6">
            <a:extLst>
              <a:ext uri="{FF2B5EF4-FFF2-40B4-BE49-F238E27FC236}">
                <a16:creationId xmlns:a16="http://schemas.microsoft.com/office/drawing/2014/main" id="{7B7284DA-710E-81AD-6675-8FF8A451D6C9}"/>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3002928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1662B-9E08-02AE-6400-54FB9FB3C676}"/>
              </a:ext>
            </a:extLst>
          </p:cNvPr>
          <p:cNvSpPr>
            <a:spLocks noGrp="1"/>
          </p:cNvSpPr>
          <p:nvPr>
            <p:ph type="title"/>
          </p:nvPr>
        </p:nvSpPr>
        <p:spPr/>
        <p:txBody>
          <a:bodyPr/>
          <a:lstStyle/>
          <a:p>
            <a:r>
              <a:rPr lang="en-US"/>
              <a:t>Click to edit Master title style</a:t>
            </a:r>
            <a:endParaRPr lang="hr-HR"/>
          </a:p>
        </p:txBody>
      </p:sp>
      <p:sp>
        <p:nvSpPr>
          <p:cNvPr id="3" name="Vertical Text Placeholder 2">
            <a:extLst>
              <a:ext uri="{FF2B5EF4-FFF2-40B4-BE49-F238E27FC236}">
                <a16:creationId xmlns:a16="http://schemas.microsoft.com/office/drawing/2014/main" id="{5A8055C1-B116-862D-724C-E4602BF9D4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531C1BBF-F75F-B87D-6366-CA55AC373913}"/>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5" name="Footer Placeholder 4">
            <a:extLst>
              <a:ext uri="{FF2B5EF4-FFF2-40B4-BE49-F238E27FC236}">
                <a16:creationId xmlns:a16="http://schemas.microsoft.com/office/drawing/2014/main" id="{1FE2A51B-EC39-8691-0632-7FA677564C1C}"/>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C91D296A-B25A-FB13-329B-9E08F5C86801}"/>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4242754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123DF-6D84-7460-3E71-B4CFDAA24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r-HR"/>
          </a:p>
        </p:txBody>
      </p:sp>
      <p:sp>
        <p:nvSpPr>
          <p:cNvPr id="3" name="Vertical Text Placeholder 2">
            <a:extLst>
              <a:ext uri="{FF2B5EF4-FFF2-40B4-BE49-F238E27FC236}">
                <a16:creationId xmlns:a16="http://schemas.microsoft.com/office/drawing/2014/main" id="{D9A6B03E-6396-9751-84C9-E9E3584515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5E4438C4-D817-2BDC-5D20-EA8FE7D813ED}"/>
              </a:ext>
            </a:extLst>
          </p:cNvPr>
          <p:cNvSpPr>
            <a:spLocks noGrp="1"/>
          </p:cNvSpPr>
          <p:nvPr>
            <p:ph type="dt" sz="half" idx="10"/>
          </p:nvPr>
        </p:nvSpPr>
        <p:spPr/>
        <p:txBody>
          <a:bodyPr/>
          <a:lstStyle/>
          <a:p>
            <a:fld id="{43B8299A-E7E1-435C-8F6D-352ABDC08D0B}" type="datetimeFigureOut">
              <a:rPr lang="hr-HR" smtClean="0"/>
              <a:t>6.10.2025.</a:t>
            </a:fld>
            <a:endParaRPr lang="hr-HR"/>
          </a:p>
        </p:txBody>
      </p:sp>
      <p:sp>
        <p:nvSpPr>
          <p:cNvPr id="5" name="Footer Placeholder 4">
            <a:extLst>
              <a:ext uri="{FF2B5EF4-FFF2-40B4-BE49-F238E27FC236}">
                <a16:creationId xmlns:a16="http://schemas.microsoft.com/office/drawing/2014/main" id="{89A89E31-39E2-DFCD-ACC5-D06A865438B0}"/>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3FAAEF8F-727A-3C55-E8F7-26843E3CEBC5}"/>
              </a:ext>
            </a:extLst>
          </p:cNvPr>
          <p:cNvSpPr>
            <a:spLocks noGrp="1"/>
          </p:cNvSpPr>
          <p:nvPr>
            <p:ph type="sldNum" sz="quarter" idx="12"/>
          </p:nvPr>
        </p:nvSpPr>
        <p:spPr/>
        <p:txBody>
          <a:bodyPr/>
          <a:lstStyle/>
          <a:p>
            <a:fld id="{97C73F3F-A071-4478-B919-9E3FEBFC2858}" type="slidenum">
              <a:rPr lang="hr-HR" smtClean="0"/>
              <a:t>‹#›</a:t>
            </a:fld>
            <a:endParaRPr lang="hr-HR"/>
          </a:p>
        </p:txBody>
      </p:sp>
    </p:spTree>
    <p:extLst>
      <p:ext uri="{BB962C8B-B14F-4D97-AF65-F5344CB8AC3E}">
        <p14:creationId xmlns:p14="http://schemas.microsoft.com/office/powerpoint/2010/main" val="2834312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283C-F71E-B508-36ED-1855582641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r-HR"/>
          </a:p>
        </p:txBody>
      </p:sp>
      <p:sp>
        <p:nvSpPr>
          <p:cNvPr id="3" name="Subtitle 2">
            <a:extLst>
              <a:ext uri="{FF2B5EF4-FFF2-40B4-BE49-F238E27FC236}">
                <a16:creationId xmlns:a16="http://schemas.microsoft.com/office/drawing/2014/main" id="{5B371ADE-B9DC-2F91-F72B-BF346D4F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r-HR"/>
          </a:p>
        </p:txBody>
      </p:sp>
      <p:sp>
        <p:nvSpPr>
          <p:cNvPr id="4" name="Date Placeholder 3">
            <a:extLst>
              <a:ext uri="{FF2B5EF4-FFF2-40B4-BE49-F238E27FC236}">
                <a16:creationId xmlns:a16="http://schemas.microsoft.com/office/drawing/2014/main" id="{F108FE45-3C0F-C992-188F-0912EFF12C6F}"/>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5" name="Footer Placeholder 4">
            <a:extLst>
              <a:ext uri="{FF2B5EF4-FFF2-40B4-BE49-F238E27FC236}">
                <a16:creationId xmlns:a16="http://schemas.microsoft.com/office/drawing/2014/main" id="{1366DD3C-2B70-E6B1-A03E-C1E6512A7144}"/>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1C29EBB4-2906-80FA-F2DD-D35324489D69}"/>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259633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EAE90-A53E-AE11-D7BA-67A7D23EBA47}"/>
              </a:ext>
            </a:extLst>
          </p:cNvPr>
          <p:cNvSpPr>
            <a:spLocks noGrp="1"/>
          </p:cNvSpPr>
          <p:nvPr>
            <p:ph type="title"/>
          </p:nvPr>
        </p:nvSpPr>
        <p:spPr/>
        <p:txBody>
          <a:bodyPr/>
          <a:lstStyle/>
          <a:p>
            <a:r>
              <a:rPr lang="en-US"/>
              <a:t>Click to edit Master title style</a:t>
            </a:r>
            <a:endParaRPr lang="hr-HR"/>
          </a:p>
        </p:txBody>
      </p:sp>
      <p:sp>
        <p:nvSpPr>
          <p:cNvPr id="3" name="Content Placeholder 2">
            <a:extLst>
              <a:ext uri="{FF2B5EF4-FFF2-40B4-BE49-F238E27FC236}">
                <a16:creationId xmlns:a16="http://schemas.microsoft.com/office/drawing/2014/main" id="{D78D8DF9-FAAF-9EB4-2958-7050FA44E5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7C2965EF-E490-AF2D-0513-7DD53F6C24B5}"/>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5" name="Footer Placeholder 4">
            <a:extLst>
              <a:ext uri="{FF2B5EF4-FFF2-40B4-BE49-F238E27FC236}">
                <a16:creationId xmlns:a16="http://schemas.microsoft.com/office/drawing/2014/main" id="{E1DB3769-7117-F66E-8EA4-AF478D39BF86}"/>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92C62FCF-9A98-0DF2-8ACC-8D23457DA005}"/>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3811369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D6027-865E-1A31-9A54-510C5639C5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r-HR"/>
          </a:p>
        </p:txBody>
      </p:sp>
      <p:sp>
        <p:nvSpPr>
          <p:cNvPr id="3" name="Text Placeholder 2">
            <a:extLst>
              <a:ext uri="{FF2B5EF4-FFF2-40B4-BE49-F238E27FC236}">
                <a16:creationId xmlns:a16="http://schemas.microsoft.com/office/drawing/2014/main" id="{E779A411-343C-2C96-3BCE-85A473018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29492C-5071-8598-E0B8-D856705EEF2C}"/>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5" name="Footer Placeholder 4">
            <a:extLst>
              <a:ext uri="{FF2B5EF4-FFF2-40B4-BE49-F238E27FC236}">
                <a16:creationId xmlns:a16="http://schemas.microsoft.com/office/drawing/2014/main" id="{0A53F8B6-6D66-EA4B-8DDA-6CD8DD1F4527}"/>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F67E9F93-B495-0B4B-591B-1F7DBA28E3EF}"/>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733819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32B2A-2E5E-37ED-28A7-A8492F5A20B9}"/>
              </a:ext>
            </a:extLst>
          </p:cNvPr>
          <p:cNvSpPr>
            <a:spLocks noGrp="1"/>
          </p:cNvSpPr>
          <p:nvPr>
            <p:ph type="title"/>
          </p:nvPr>
        </p:nvSpPr>
        <p:spPr/>
        <p:txBody>
          <a:bodyPr/>
          <a:lstStyle/>
          <a:p>
            <a:r>
              <a:rPr lang="en-US"/>
              <a:t>Click to edit Master title style</a:t>
            </a:r>
            <a:endParaRPr lang="hr-HR"/>
          </a:p>
        </p:txBody>
      </p:sp>
      <p:sp>
        <p:nvSpPr>
          <p:cNvPr id="3" name="Content Placeholder 2">
            <a:extLst>
              <a:ext uri="{FF2B5EF4-FFF2-40B4-BE49-F238E27FC236}">
                <a16:creationId xmlns:a16="http://schemas.microsoft.com/office/drawing/2014/main" id="{E5C335BB-FFC7-E457-E725-8570F4B903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Content Placeholder 3">
            <a:extLst>
              <a:ext uri="{FF2B5EF4-FFF2-40B4-BE49-F238E27FC236}">
                <a16:creationId xmlns:a16="http://schemas.microsoft.com/office/drawing/2014/main" id="{D182628B-27A1-36ED-39A1-279293E5A1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Date Placeholder 4">
            <a:extLst>
              <a:ext uri="{FF2B5EF4-FFF2-40B4-BE49-F238E27FC236}">
                <a16:creationId xmlns:a16="http://schemas.microsoft.com/office/drawing/2014/main" id="{FCAED8CC-6B02-BF39-1DEE-58BE0897B2C0}"/>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6" name="Footer Placeholder 5">
            <a:extLst>
              <a:ext uri="{FF2B5EF4-FFF2-40B4-BE49-F238E27FC236}">
                <a16:creationId xmlns:a16="http://schemas.microsoft.com/office/drawing/2014/main" id="{63F8EE86-F753-5205-7A66-8D306D4329C4}"/>
              </a:ext>
            </a:extLst>
          </p:cNvPr>
          <p:cNvSpPr>
            <a:spLocks noGrp="1"/>
          </p:cNvSpPr>
          <p:nvPr>
            <p:ph type="ftr" sz="quarter" idx="11"/>
          </p:nvPr>
        </p:nvSpPr>
        <p:spPr/>
        <p:txBody>
          <a:bodyPr/>
          <a:lstStyle/>
          <a:p>
            <a:endParaRPr lang="hr-HR"/>
          </a:p>
        </p:txBody>
      </p:sp>
      <p:sp>
        <p:nvSpPr>
          <p:cNvPr id="7" name="Slide Number Placeholder 6">
            <a:extLst>
              <a:ext uri="{FF2B5EF4-FFF2-40B4-BE49-F238E27FC236}">
                <a16:creationId xmlns:a16="http://schemas.microsoft.com/office/drawing/2014/main" id="{012EC14A-6BAD-41E7-675F-B36CC7C857FD}"/>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2185470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71751-049C-F4F3-8979-4F28E6E0CC4C}"/>
              </a:ext>
            </a:extLst>
          </p:cNvPr>
          <p:cNvSpPr>
            <a:spLocks noGrp="1"/>
          </p:cNvSpPr>
          <p:nvPr>
            <p:ph type="title"/>
          </p:nvPr>
        </p:nvSpPr>
        <p:spPr>
          <a:xfrm>
            <a:off x="839788" y="365125"/>
            <a:ext cx="10515600" cy="1325563"/>
          </a:xfrm>
        </p:spPr>
        <p:txBody>
          <a:bodyPr/>
          <a:lstStyle/>
          <a:p>
            <a:r>
              <a:rPr lang="en-US"/>
              <a:t>Click to edit Master title style</a:t>
            </a:r>
            <a:endParaRPr lang="hr-HR"/>
          </a:p>
        </p:txBody>
      </p:sp>
      <p:sp>
        <p:nvSpPr>
          <p:cNvPr id="3" name="Text Placeholder 2">
            <a:extLst>
              <a:ext uri="{FF2B5EF4-FFF2-40B4-BE49-F238E27FC236}">
                <a16:creationId xmlns:a16="http://schemas.microsoft.com/office/drawing/2014/main" id="{8AF27120-726D-6299-1DEF-1B81B009E2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B4F83B-B6AD-E51F-25AD-6CDD2FA7BE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Text Placeholder 4">
            <a:extLst>
              <a:ext uri="{FF2B5EF4-FFF2-40B4-BE49-F238E27FC236}">
                <a16:creationId xmlns:a16="http://schemas.microsoft.com/office/drawing/2014/main" id="{26CA9194-1A03-1F9B-1AA6-1EB648F01F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99A7DE-6BFB-2450-0074-BAB17B17ED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7" name="Date Placeholder 6">
            <a:extLst>
              <a:ext uri="{FF2B5EF4-FFF2-40B4-BE49-F238E27FC236}">
                <a16:creationId xmlns:a16="http://schemas.microsoft.com/office/drawing/2014/main" id="{9D565664-6D68-3A01-75D3-26CF9AD20E5F}"/>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8" name="Footer Placeholder 7">
            <a:extLst>
              <a:ext uri="{FF2B5EF4-FFF2-40B4-BE49-F238E27FC236}">
                <a16:creationId xmlns:a16="http://schemas.microsoft.com/office/drawing/2014/main" id="{856B5764-50D9-F040-CA4D-099087E5763E}"/>
              </a:ext>
            </a:extLst>
          </p:cNvPr>
          <p:cNvSpPr>
            <a:spLocks noGrp="1"/>
          </p:cNvSpPr>
          <p:nvPr>
            <p:ph type="ftr" sz="quarter" idx="11"/>
          </p:nvPr>
        </p:nvSpPr>
        <p:spPr/>
        <p:txBody>
          <a:bodyPr/>
          <a:lstStyle/>
          <a:p>
            <a:endParaRPr lang="hr-HR"/>
          </a:p>
        </p:txBody>
      </p:sp>
      <p:sp>
        <p:nvSpPr>
          <p:cNvPr id="9" name="Slide Number Placeholder 8">
            <a:extLst>
              <a:ext uri="{FF2B5EF4-FFF2-40B4-BE49-F238E27FC236}">
                <a16:creationId xmlns:a16="http://schemas.microsoft.com/office/drawing/2014/main" id="{8FB379F2-3A22-15C7-005C-7FDE0032C512}"/>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1900504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C6249-CD6B-76CE-02CA-D870EB13E0D4}"/>
              </a:ext>
            </a:extLst>
          </p:cNvPr>
          <p:cNvSpPr>
            <a:spLocks noGrp="1"/>
          </p:cNvSpPr>
          <p:nvPr>
            <p:ph type="title"/>
          </p:nvPr>
        </p:nvSpPr>
        <p:spPr/>
        <p:txBody>
          <a:bodyPr/>
          <a:lstStyle/>
          <a:p>
            <a:r>
              <a:rPr lang="en-US"/>
              <a:t>Click to edit Master title style</a:t>
            </a:r>
            <a:endParaRPr lang="hr-HR"/>
          </a:p>
        </p:txBody>
      </p:sp>
      <p:sp>
        <p:nvSpPr>
          <p:cNvPr id="3" name="Date Placeholder 2">
            <a:extLst>
              <a:ext uri="{FF2B5EF4-FFF2-40B4-BE49-F238E27FC236}">
                <a16:creationId xmlns:a16="http://schemas.microsoft.com/office/drawing/2014/main" id="{6E21FA05-6EE8-0493-5D5B-95F1C04DC096}"/>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4" name="Footer Placeholder 3">
            <a:extLst>
              <a:ext uri="{FF2B5EF4-FFF2-40B4-BE49-F238E27FC236}">
                <a16:creationId xmlns:a16="http://schemas.microsoft.com/office/drawing/2014/main" id="{9893C212-834C-C1E2-ABC8-1D54C0320115}"/>
              </a:ext>
            </a:extLst>
          </p:cNvPr>
          <p:cNvSpPr>
            <a:spLocks noGrp="1"/>
          </p:cNvSpPr>
          <p:nvPr>
            <p:ph type="ftr" sz="quarter" idx="11"/>
          </p:nvPr>
        </p:nvSpPr>
        <p:spPr/>
        <p:txBody>
          <a:bodyPr/>
          <a:lstStyle/>
          <a:p>
            <a:endParaRPr lang="hr-HR"/>
          </a:p>
        </p:txBody>
      </p:sp>
      <p:sp>
        <p:nvSpPr>
          <p:cNvPr id="5" name="Slide Number Placeholder 4">
            <a:extLst>
              <a:ext uri="{FF2B5EF4-FFF2-40B4-BE49-F238E27FC236}">
                <a16:creationId xmlns:a16="http://schemas.microsoft.com/office/drawing/2014/main" id="{0C2D7231-E22D-5503-E662-2739C2B4C1E4}"/>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4196964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383DF2-EF35-1DB5-D215-CB1196B65448}"/>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3" name="Footer Placeholder 2">
            <a:extLst>
              <a:ext uri="{FF2B5EF4-FFF2-40B4-BE49-F238E27FC236}">
                <a16:creationId xmlns:a16="http://schemas.microsoft.com/office/drawing/2014/main" id="{4211D79A-FC87-C23A-2C0B-EC5E30D8624E}"/>
              </a:ext>
            </a:extLst>
          </p:cNvPr>
          <p:cNvSpPr>
            <a:spLocks noGrp="1"/>
          </p:cNvSpPr>
          <p:nvPr>
            <p:ph type="ftr" sz="quarter" idx="11"/>
          </p:nvPr>
        </p:nvSpPr>
        <p:spPr/>
        <p:txBody>
          <a:bodyPr/>
          <a:lstStyle/>
          <a:p>
            <a:endParaRPr lang="hr-HR"/>
          </a:p>
        </p:txBody>
      </p:sp>
      <p:sp>
        <p:nvSpPr>
          <p:cNvPr id="4" name="Slide Number Placeholder 3">
            <a:extLst>
              <a:ext uri="{FF2B5EF4-FFF2-40B4-BE49-F238E27FC236}">
                <a16:creationId xmlns:a16="http://schemas.microsoft.com/office/drawing/2014/main" id="{D976EAB6-3B36-6648-32F2-2BC61D90DA6C}"/>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3708407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10F8-5CF0-FF78-31E5-A6753CBC8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Content Placeholder 2">
            <a:extLst>
              <a:ext uri="{FF2B5EF4-FFF2-40B4-BE49-F238E27FC236}">
                <a16:creationId xmlns:a16="http://schemas.microsoft.com/office/drawing/2014/main" id="{806EAD75-58AA-3E4C-CDC7-071938F989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Text Placeholder 3">
            <a:extLst>
              <a:ext uri="{FF2B5EF4-FFF2-40B4-BE49-F238E27FC236}">
                <a16:creationId xmlns:a16="http://schemas.microsoft.com/office/drawing/2014/main" id="{8257E71D-652D-205E-2FE3-C5AB0130A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D5A129-1028-D089-007D-0AE39AF90203}"/>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6" name="Footer Placeholder 5">
            <a:extLst>
              <a:ext uri="{FF2B5EF4-FFF2-40B4-BE49-F238E27FC236}">
                <a16:creationId xmlns:a16="http://schemas.microsoft.com/office/drawing/2014/main" id="{A3620108-3F60-950F-2403-3BC817C3E726}"/>
              </a:ext>
            </a:extLst>
          </p:cNvPr>
          <p:cNvSpPr>
            <a:spLocks noGrp="1"/>
          </p:cNvSpPr>
          <p:nvPr>
            <p:ph type="ftr" sz="quarter" idx="11"/>
          </p:nvPr>
        </p:nvSpPr>
        <p:spPr/>
        <p:txBody>
          <a:bodyPr/>
          <a:lstStyle/>
          <a:p>
            <a:endParaRPr lang="hr-HR"/>
          </a:p>
        </p:txBody>
      </p:sp>
      <p:sp>
        <p:nvSpPr>
          <p:cNvPr id="7" name="Slide Number Placeholder 6">
            <a:extLst>
              <a:ext uri="{FF2B5EF4-FFF2-40B4-BE49-F238E27FC236}">
                <a16:creationId xmlns:a16="http://schemas.microsoft.com/office/drawing/2014/main" id="{77594EF5-0732-D87D-0DBF-338A539E7BC6}"/>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12490858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46BEA-5C17-EF71-FC2A-E2CE01BC3E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Picture Placeholder 2">
            <a:extLst>
              <a:ext uri="{FF2B5EF4-FFF2-40B4-BE49-F238E27FC236}">
                <a16:creationId xmlns:a16="http://schemas.microsoft.com/office/drawing/2014/main" id="{11809999-04A9-93D1-3D21-19E11510E9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Text Placeholder 3">
            <a:extLst>
              <a:ext uri="{FF2B5EF4-FFF2-40B4-BE49-F238E27FC236}">
                <a16:creationId xmlns:a16="http://schemas.microsoft.com/office/drawing/2014/main" id="{89A51FBF-0610-2521-B50A-A4E7D30655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78E41E-22A2-9B95-DF49-436BBF12EFB9}"/>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6" name="Footer Placeholder 5">
            <a:extLst>
              <a:ext uri="{FF2B5EF4-FFF2-40B4-BE49-F238E27FC236}">
                <a16:creationId xmlns:a16="http://schemas.microsoft.com/office/drawing/2014/main" id="{FD89A19F-978F-8F52-31F7-696D113FDEBA}"/>
              </a:ext>
            </a:extLst>
          </p:cNvPr>
          <p:cNvSpPr>
            <a:spLocks noGrp="1"/>
          </p:cNvSpPr>
          <p:nvPr>
            <p:ph type="ftr" sz="quarter" idx="11"/>
          </p:nvPr>
        </p:nvSpPr>
        <p:spPr/>
        <p:txBody>
          <a:bodyPr/>
          <a:lstStyle/>
          <a:p>
            <a:endParaRPr lang="hr-HR"/>
          </a:p>
        </p:txBody>
      </p:sp>
      <p:sp>
        <p:nvSpPr>
          <p:cNvPr id="7" name="Slide Number Placeholder 6">
            <a:extLst>
              <a:ext uri="{FF2B5EF4-FFF2-40B4-BE49-F238E27FC236}">
                <a16:creationId xmlns:a16="http://schemas.microsoft.com/office/drawing/2014/main" id="{2551AC31-2A6F-01C6-FFAB-EC8A89B936AA}"/>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16825987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1BE9B-4DBF-CD39-8D7D-2328B8EBC4A1}"/>
              </a:ext>
            </a:extLst>
          </p:cNvPr>
          <p:cNvSpPr>
            <a:spLocks noGrp="1"/>
          </p:cNvSpPr>
          <p:nvPr>
            <p:ph type="title"/>
          </p:nvPr>
        </p:nvSpPr>
        <p:spPr/>
        <p:txBody>
          <a:bodyPr/>
          <a:lstStyle/>
          <a:p>
            <a:r>
              <a:rPr lang="en-US"/>
              <a:t>Click to edit Master title style</a:t>
            </a:r>
            <a:endParaRPr lang="hr-HR"/>
          </a:p>
        </p:txBody>
      </p:sp>
      <p:sp>
        <p:nvSpPr>
          <p:cNvPr id="3" name="Vertical Text Placeholder 2">
            <a:extLst>
              <a:ext uri="{FF2B5EF4-FFF2-40B4-BE49-F238E27FC236}">
                <a16:creationId xmlns:a16="http://schemas.microsoft.com/office/drawing/2014/main" id="{5B7415E1-4115-5E46-282C-58F38A951E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26713086-95AD-A96F-92F2-999B2DF035F0}"/>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5" name="Footer Placeholder 4">
            <a:extLst>
              <a:ext uri="{FF2B5EF4-FFF2-40B4-BE49-F238E27FC236}">
                <a16:creationId xmlns:a16="http://schemas.microsoft.com/office/drawing/2014/main" id="{8246ED61-CCD8-05E4-1741-B33377ADBD69}"/>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2C792E81-2914-906E-19F0-64AD7C972A33}"/>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13438380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C907D2-211B-EDF2-A6D7-31E2060DFB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r-HR"/>
          </a:p>
        </p:txBody>
      </p:sp>
      <p:sp>
        <p:nvSpPr>
          <p:cNvPr id="3" name="Vertical Text Placeholder 2">
            <a:extLst>
              <a:ext uri="{FF2B5EF4-FFF2-40B4-BE49-F238E27FC236}">
                <a16:creationId xmlns:a16="http://schemas.microsoft.com/office/drawing/2014/main" id="{3A334AEC-3D76-D0C2-21B3-AF65C1A35A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3FA73EB4-4E88-AB7C-C45E-67B14939DD7D}"/>
              </a:ext>
            </a:extLst>
          </p:cNvPr>
          <p:cNvSpPr>
            <a:spLocks noGrp="1"/>
          </p:cNvSpPr>
          <p:nvPr>
            <p:ph type="dt" sz="half" idx="10"/>
          </p:nvPr>
        </p:nvSpPr>
        <p:spPr/>
        <p:txBody>
          <a:bodyPr/>
          <a:lstStyle/>
          <a:p>
            <a:fld id="{011569C6-D007-4C2F-B458-33BC076B5DCE}" type="datetimeFigureOut">
              <a:rPr lang="hr-HR" smtClean="0"/>
              <a:t>6.10.2025.</a:t>
            </a:fld>
            <a:endParaRPr lang="hr-HR"/>
          </a:p>
        </p:txBody>
      </p:sp>
      <p:sp>
        <p:nvSpPr>
          <p:cNvPr id="5" name="Footer Placeholder 4">
            <a:extLst>
              <a:ext uri="{FF2B5EF4-FFF2-40B4-BE49-F238E27FC236}">
                <a16:creationId xmlns:a16="http://schemas.microsoft.com/office/drawing/2014/main" id="{D3067F53-8C1B-3812-79B1-65A9CC3FBAA0}"/>
              </a:ext>
            </a:extLst>
          </p:cNvPr>
          <p:cNvSpPr>
            <a:spLocks noGrp="1"/>
          </p:cNvSpPr>
          <p:nvPr>
            <p:ph type="ftr" sz="quarter" idx="11"/>
          </p:nvPr>
        </p:nvSpPr>
        <p:spPr/>
        <p:txBody>
          <a:bodyPr/>
          <a:lstStyle/>
          <a:p>
            <a:endParaRPr lang="hr-HR"/>
          </a:p>
        </p:txBody>
      </p:sp>
      <p:sp>
        <p:nvSpPr>
          <p:cNvPr id="6" name="Slide Number Placeholder 5">
            <a:extLst>
              <a:ext uri="{FF2B5EF4-FFF2-40B4-BE49-F238E27FC236}">
                <a16:creationId xmlns:a16="http://schemas.microsoft.com/office/drawing/2014/main" id="{FC627D03-B471-739A-BAA7-6AEA6C389430}"/>
              </a:ext>
            </a:extLst>
          </p:cNvPr>
          <p:cNvSpPr>
            <a:spLocks noGrp="1"/>
          </p:cNvSpPr>
          <p:nvPr>
            <p:ph type="sldNum" sz="quarter" idx="12"/>
          </p:nvPr>
        </p:nvSpPr>
        <p:spPr/>
        <p:txBody>
          <a:bodyPr/>
          <a:lstStyle/>
          <a:p>
            <a:fld id="{B1D22567-D5E3-412F-8634-378BAFEE4CBF}" type="slidenum">
              <a:rPr lang="hr-HR" smtClean="0"/>
              <a:t>‹#›</a:t>
            </a:fld>
            <a:endParaRPr lang="hr-HR"/>
          </a:p>
        </p:txBody>
      </p:sp>
    </p:spTree>
    <p:extLst>
      <p:ext uri="{BB962C8B-B14F-4D97-AF65-F5344CB8AC3E}">
        <p14:creationId xmlns:p14="http://schemas.microsoft.com/office/powerpoint/2010/main" val="303618125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A71A0-8E3C-6E90-68E2-AC3FFD9256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hr-HR" dirty="0"/>
          </a:p>
        </p:txBody>
      </p:sp>
      <p:sp>
        <p:nvSpPr>
          <p:cNvPr id="3" name="Text Placeholder 2">
            <a:extLst>
              <a:ext uri="{FF2B5EF4-FFF2-40B4-BE49-F238E27FC236}">
                <a16:creationId xmlns:a16="http://schemas.microsoft.com/office/drawing/2014/main" id="{ED0A9CF7-7DA5-3331-F188-5D6A8E1D71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CE4B8E49-4C19-003B-AE54-F67356F4A5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B8299A-E7E1-435C-8F6D-352ABDC08D0B}" type="datetimeFigureOut">
              <a:rPr lang="hr-HR" smtClean="0"/>
              <a:t>6.10.2025.</a:t>
            </a:fld>
            <a:endParaRPr lang="hr-HR"/>
          </a:p>
        </p:txBody>
      </p:sp>
      <p:sp>
        <p:nvSpPr>
          <p:cNvPr id="5" name="Footer Placeholder 4">
            <a:extLst>
              <a:ext uri="{FF2B5EF4-FFF2-40B4-BE49-F238E27FC236}">
                <a16:creationId xmlns:a16="http://schemas.microsoft.com/office/drawing/2014/main" id="{97941D03-DC94-55A7-D1CB-0E1E8729E8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r-HR"/>
          </a:p>
        </p:txBody>
      </p:sp>
      <p:sp>
        <p:nvSpPr>
          <p:cNvPr id="6" name="Slide Number Placeholder 5">
            <a:extLst>
              <a:ext uri="{FF2B5EF4-FFF2-40B4-BE49-F238E27FC236}">
                <a16:creationId xmlns:a16="http://schemas.microsoft.com/office/drawing/2014/main" id="{5E143E95-2CD0-87F1-ACA3-545FD51FCE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C73F3F-A071-4478-B919-9E3FEBFC2858}" type="slidenum">
              <a:rPr lang="hr-HR" smtClean="0"/>
              <a:t>‹#›</a:t>
            </a:fld>
            <a:endParaRPr lang="hr-HR"/>
          </a:p>
        </p:txBody>
      </p:sp>
    </p:spTree>
    <p:extLst>
      <p:ext uri="{BB962C8B-B14F-4D97-AF65-F5344CB8AC3E}">
        <p14:creationId xmlns:p14="http://schemas.microsoft.com/office/powerpoint/2010/main" val="3754068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EB6166-1C7C-8264-FA2D-AE521EB76A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r-HR"/>
          </a:p>
        </p:txBody>
      </p:sp>
      <p:sp>
        <p:nvSpPr>
          <p:cNvPr id="3" name="Text Placeholder 2">
            <a:extLst>
              <a:ext uri="{FF2B5EF4-FFF2-40B4-BE49-F238E27FC236}">
                <a16:creationId xmlns:a16="http://schemas.microsoft.com/office/drawing/2014/main" id="{A99E7DF0-374C-EF5C-9E65-E4D6A56BF3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a:extLst>
              <a:ext uri="{FF2B5EF4-FFF2-40B4-BE49-F238E27FC236}">
                <a16:creationId xmlns:a16="http://schemas.microsoft.com/office/drawing/2014/main" id="{CFFB1152-A74C-398D-CC4E-A32484F72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1569C6-D007-4C2F-B458-33BC076B5DCE}" type="datetimeFigureOut">
              <a:rPr lang="hr-HR" smtClean="0"/>
              <a:t>6.10.2025.</a:t>
            </a:fld>
            <a:endParaRPr lang="hr-HR"/>
          </a:p>
        </p:txBody>
      </p:sp>
      <p:sp>
        <p:nvSpPr>
          <p:cNvPr id="5" name="Footer Placeholder 4">
            <a:extLst>
              <a:ext uri="{FF2B5EF4-FFF2-40B4-BE49-F238E27FC236}">
                <a16:creationId xmlns:a16="http://schemas.microsoft.com/office/drawing/2014/main" id="{0F9745C3-55EE-3302-4229-11E4A996F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r-HR"/>
          </a:p>
        </p:txBody>
      </p:sp>
      <p:sp>
        <p:nvSpPr>
          <p:cNvPr id="6" name="Slide Number Placeholder 5">
            <a:extLst>
              <a:ext uri="{FF2B5EF4-FFF2-40B4-BE49-F238E27FC236}">
                <a16:creationId xmlns:a16="http://schemas.microsoft.com/office/drawing/2014/main" id="{B5A3C372-CBCD-F5B7-530E-CCF6A02AEC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D22567-D5E3-412F-8634-378BAFEE4CBF}" type="slidenum">
              <a:rPr lang="hr-HR" smtClean="0"/>
              <a:t>‹#›</a:t>
            </a:fld>
            <a:endParaRPr lang="hr-HR"/>
          </a:p>
        </p:txBody>
      </p:sp>
    </p:spTree>
    <p:extLst>
      <p:ext uri="{BB962C8B-B14F-4D97-AF65-F5344CB8AC3E}">
        <p14:creationId xmlns:p14="http://schemas.microsoft.com/office/powerpoint/2010/main" val="1676481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Paralelno programiranje</a:t>
            </a:r>
          </a:p>
        </p:txBody>
      </p:sp>
      <p:sp>
        <p:nvSpPr>
          <p:cNvPr id="3" name="Subtitle 2"/>
          <p:cNvSpPr>
            <a:spLocks noGrp="1"/>
          </p:cNvSpPr>
          <p:nvPr>
            <p:ph type="subTitle" idx="1"/>
          </p:nvPr>
        </p:nvSpPr>
        <p:spPr/>
        <p:txBody>
          <a:bodyPr/>
          <a:lstStyle/>
          <a:p>
            <a:r>
              <a:t>Vježba 3: izmjereno ubrzanje, podjela posla i granularnost</a:t>
            </a:r>
          </a:p>
          <a:p>
            <a:r>
              <a:t>Marin Aglić Čuvić, prema predavanjima Tonćija Dadića</a:t>
            </a:r>
          </a:p>
          <a:p>
            <a:r>
              <a:t>Akademska godina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Priprema okruženja za vježbe</a:t>
            </a:r>
          </a:p>
        </p:txBody>
      </p:sp>
      <p:sp>
        <p:nvSpPr>
          <p:cNvPr id="3" name="Setup card 1"/>
          <p:cNvSpPr/>
          <p:nvPr/>
        </p:nvSpPr>
        <p:spPr>
          <a:xfrm>
            <a:off x="841248" y="1554480"/>
            <a:ext cx="3383280" cy="3566160"/>
          </a:xfrm>
          <a:prstGeom prst="roundRect">
            <a:avLst>
              <a:gd name="adj" fmla="val 8000"/>
            </a:avLst>
          </a:prstGeom>
          <a:solidFill>
            <a:schemeClr val="accent1">
              <a:lumMod val="12000"/>
              <a:lumOff val="8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tup num 1"/>
          <p:cNvSpPr/>
          <p:nvPr/>
        </p:nvSpPr>
        <p:spPr>
          <a:xfrm>
            <a:off x="1069848" y="1737360"/>
            <a:ext cx="502920" cy="502920"/>
          </a:xfrm>
          <a:prstGeom prst="ellipse">
            <a:avLst/>
          </a:prstGeom>
          <a:solidFill>
            <a:schemeClr val="accent1">
              <a:lumMod val="70000"/>
              <a:lumOff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a:solidFill>
                  <a:schemeClr val="tx1"/>
                </a:solidFill>
              </a:rPr>
              <a:t>1</a:t>
            </a:r>
          </a:p>
        </p:txBody>
      </p:sp>
      <p:sp>
        <p:nvSpPr>
          <p:cNvPr id="5" name="TextBox 4"/>
          <p:cNvSpPr txBox="1"/>
          <p:nvPr/>
        </p:nvSpPr>
        <p:spPr>
          <a:xfrm>
            <a:off x="1709928" y="1737360"/>
            <a:ext cx="2377440" cy="548640"/>
          </a:xfrm>
          <a:prstGeom prst="rect">
            <a:avLst/>
          </a:prstGeom>
          <a:noFill/>
        </p:spPr>
        <p:txBody>
          <a:bodyPr wrap="square" lIns="0" rIns="0" tIns="0" bIns="0" anchor="ctr">
            <a:spAutoFit/>
          </a:bodyPr>
          <a:lstStyle/>
          <a:p>
            <a:pPr algn="l"/>
            <a:r>
              <a:rPr sz="1800" b="1">
                <a:solidFill>
                  <a:schemeClr val="tx1"/>
                </a:solidFill>
              </a:rPr>
              <a:t>Instalirajte .NET 10 SDK</a:t>
            </a:r>
          </a:p>
        </p:txBody>
      </p:sp>
      <p:sp>
        <p:nvSpPr>
          <p:cNvPr id="6" name="TextBox 5"/>
          <p:cNvSpPr txBox="1"/>
          <p:nvPr/>
        </p:nvSpPr>
        <p:spPr>
          <a:xfrm>
            <a:off x="1069848" y="2514600"/>
            <a:ext cx="2926080" cy="2560320"/>
          </a:xfrm>
          <a:prstGeom prst="rect">
            <a:avLst/>
          </a:prstGeom>
          <a:noFill/>
        </p:spPr>
        <p:txBody>
          <a:bodyPr wrap="square" lIns="0" rIns="0" tIns="0" bIns="0">
            <a:spAutoFit/>
          </a:bodyPr>
          <a:lstStyle/>
          <a:p>
            <a:pPr marL="285750" indent="-285750">
              <a:spcAft>
                <a:spcPts val="800"/>
              </a:spcAft>
              <a:buChar char="•"/>
            </a:pPr>
            <a:r>
              <a:rPr sz="1500">
                <a:solidFill>
                  <a:schemeClr val="tx1"/>
                </a:solidFill>
              </a:rPr>
              <a:t>Preuzmite ga s dotnet.microsoft.com/en-us/download.</a:t>
            </a:r>
          </a:p>
          <a:p>
            <a:pPr marL="285750" indent="-285750">
              <a:spcAft>
                <a:spcPts val="800"/>
              </a:spcAft>
              <a:buChar char="•"/>
            </a:pPr>
            <a:r>
              <a:rPr sz="1500">
                <a:solidFill>
                  <a:schemeClr val="tx1"/>
                </a:solidFill>
              </a:rPr>
              <a:t>Provjera u terminalu: dotnet --list-sdks mora ispisati verziju 10.x.</a:t>
            </a:r>
          </a:p>
        </p:txBody>
      </p:sp>
      <p:sp>
        <p:nvSpPr>
          <p:cNvPr id="7" name="Setup card 2"/>
          <p:cNvSpPr/>
          <p:nvPr/>
        </p:nvSpPr>
        <p:spPr>
          <a:xfrm>
            <a:off x="4453128" y="1554480"/>
            <a:ext cx="3383280" cy="3566160"/>
          </a:xfrm>
          <a:prstGeom prst="roundRect">
            <a:avLst>
              <a:gd name="adj" fmla="val 8000"/>
            </a:avLst>
          </a:prstGeom>
          <a:solidFill>
            <a:schemeClr val="accent3">
              <a:lumMod val="12000"/>
              <a:lumOff val="8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tup num 2"/>
          <p:cNvSpPr/>
          <p:nvPr/>
        </p:nvSpPr>
        <p:spPr>
          <a:xfrm>
            <a:off x="4681728" y="1737360"/>
            <a:ext cx="502920" cy="502920"/>
          </a:xfrm>
          <a:prstGeom prst="ellipse">
            <a:avLst/>
          </a:prstGeom>
          <a:solidFill>
            <a:schemeClr val="accent3">
              <a:lumMod val="70000"/>
              <a:lumOff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a:solidFill>
                  <a:schemeClr val="tx1"/>
                </a:solidFill>
              </a:rPr>
              <a:t>2</a:t>
            </a:r>
          </a:p>
        </p:txBody>
      </p:sp>
      <p:sp>
        <p:nvSpPr>
          <p:cNvPr id="9" name="TextBox 8"/>
          <p:cNvSpPr txBox="1"/>
          <p:nvPr/>
        </p:nvSpPr>
        <p:spPr>
          <a:xfrm>
            <a:off x="5321808" y="1737360"/>
            <a:ext cx="2377440" cy="548640"/>
          </a:xfrm>
          <a:prstGeom prst="rect">
            <a:avLst/>
          </a:prstGeom>
          <a:noFill/>
        </p:spPr>
        <p:txBody>
          <a:bodyPr wrap="square" lIns="0" rIns="0" tIns="0" bIns="0" anchor="ctr">
            <a:spAutoFit/>
          </a:bodyPr>
          <a:lstStyle/>
          <a:p>
            <a:pPr algn="l"/>
            <a:r>
              <a:rPr sz="1800" b="1">
                <a:solidFill>
                  <a:schemeClr val="tx1"/>
                </a:solidFill>
              </a:rPr>
              <a:t>Odaberite okruženje</a:t>
            </a:r>
          </a:p>
        </p:txBody>
      </p:sp>
      <p:sp>
        <p:nvSpPr>
          <p:cNvPr id="10" name="TextBox 9"/>
          <p:cNvSpPr txBox="1"/>
          <p:nvPr/>
        </p:nvSpPr>
        <p:spPr>
          <a:xfrm>
            <a:off x="4681728" y="2514600"/>
            <a:ext cx="2926080" cy="2560320"/>
          </a:xfrm>
          <a:prstGeom prst="rect">
            <a:avLst/>
          </a:prstGeom>
          <a:noFill/>
        </p:spPr>
        <p:txBody>
          <a:bodyPr wrap="square" lIns="0" rIns="0" tIns="0" bIns="0">
            <a:spAutoFit/>
          </a:bodyPr>
          <a:lstStyle/>
          <a:p>
            <a:pPr marL="285750" indent="-285750">
              <a:spcAft>
                <a:spcPts val="800"/>
              </a:spcAft>
              <a:buChar char="•"/>
            </a:pPr>
            <a:r>
              <a:rPr sz="1500">
                <a:solidFill>
                  <a:schemeClr val="tx1"/>
                </a:solidFill>
              </a:rPr>
              <a:t>Visual Studio 2026 (radno opterećenje za .NET)</a:t>
            </a:r>
          </a:p>
          <a:p>
            <a:pPr marL="285750" indent="-285750">
              <a:spcAft>
                <a:spcPts val="800"/>
              </a:spcAft>
              <a:buChar char="•"/>
            </a:pPr>
            <a:r>
              <a:rPr sz="1500">
                <a:solidFill>
                  <a:schemeClr val="tx1"/>
                </a:solidFill>
              </a:rPr>
              <a:t>JetBrains Rider</a:t>
            </a:r>
          </a:p>
          <a:p>
            <a:pPr marL="285750" indent="-285750">
              <a:spcAft>
                <a:spcPts val="800"/>
              </a:spcAft>
              <a:buChar char="•"/>
            </a:pPr>
            <a:r>
              <a:rPr sz="1500">
                <a:solidFill>
                  <a:schemeClr val="tx1"/>
                </a:solidFill>
              </a:rPr>
              <a:t>Visual Studio Code uz proširenje C# Dev Kit</a:t>
            </a:r>
          </a:p>
        </p:txBody>
      </p:sp>
      <p:sp>
        <p:nvSpPr>
          <p:cNvPr id="11" name="Setup card 3"/>
          <p:cNvSpPr/>
          <p:nvPr/>
        </p:nvSpPr>
        <p:spPr>
          <a:xfrm>
            <a:off x="8065008" y="1554480"/>
            <a:ext cx="3383280" cy="3566160"/>
          </a:xfrm>
          <a:prstGeom prst="roundRect">
            <a:avLst>
              <a:gd name="adj" fmla="val 8000"/>
            </a:avLst>
          </a:prstGeom>
          <a:solidFill>
            <a:schemeClr val="accent2">
              <a:lumMod val="12000"/>
              <a:lumOff val="8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tup num 3"/>
          <p:cNvSpPr/>
          <p:nvPr/>
        </p:nvSpPr>
        <p:spPr>
          <a:xfrm>
            <a:off x="8293608" y="1737360"/>
            <a:ext cx="502920" cy="502920"/>
          </a:xfrm>
          <a:prstGeom prst="ellipse">
            <a:avLst/>
          </a:prstGeom>
          <a:solidFill>
            <a:schemeClr val="accent2">
              <a:lumMod val="70000"/>
              <a:lumOff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800" b="1">
                <a:solidFill>
                  <a:schemeClr val="tx1"/>
                </a:solidFill>
              </a:rPr>
              <a:t>3</a:t>
            </a:r>
          </a:p>
        </p:txBody>
      </p:sp>
      <p:sp>
        <p:nvSpPr>
          <p:cNvPr id="13" name="TextBox 12"/>
          <p:cNvSpPr txBox="1"/>
          <p:nvPr/>
        </p:nvSpPr>
        <p:spPr>
          <a:xfrm>
            <a:off x="8933688" y="1737360"/>
            <a:ext cx="2377440" cy="548640"/>
          </a:xfrm>
          <a:prstGeom prst="rect">
            <a:avLst/>
          </a:prstGeom>
          <a:noFill/>
        </p:spPr>
        <p:txBody>
          <a:bodyPr wrap="square" lIns="0" rIns="0" tIns="0" bIns="0" anchor="ctr">
            <a:spAutoFit/>
          </a:bodyPr>
          <a:lstStyle/>
          <a:p>
            <a:pPr algn="l"/>
            <a:r>
              <a:rPr sz="1800" b="1">
                <a:solidFill>
                  <a:schemeClr val="tx1"/>
                </a:solidFill>
              </a:rPr>
              <a:t>Otvorite i pokrenite zadatak</a:t>
            </a:r>
          </a:p>
        </p:txBody>
      </p:sp>
      <p:sp>
        <p:nvSpPr>
          <p:cNvPr id="14" name="TextBox 13"/>
          <p:cNvSpPr txBox="1"/>
          <p:nvPr/>
        </p:nvSpPr>
        <p:spPr>
          <a:xfrm>
            <a:off x="8293608" y="2514600"/>
            <a:ext cx="2926080" cy="2560320"/>
          </a:xfrm>
          <a:prstGeom prst="rect">
            <a:avLst/>
          </a:prstGeom>
          <a:noFill/>
        </p:spPr>
        <p:txBody>
          <a:bodyPr wrap="square" lIns="0" rIns="0" tIns="0" bIns="0">
            <a:spAutoFit/>
          </a:bodyPr>
          <a:lstStyle/>
          <a:p>
            <a:pPr marL="285750" indent="-285750">
              <a:spcAft>
                <a:spcPts val="800"/>
              </a:spcAft>
              <a:buChar char="•"/>
            </a:pPr>
            <a:r>
              <a:rPr sz="1500">
                <a:solidFill>
                  <a:schemeClr val="tx1"/>
                </a:solidFill>
              </a:rPr>
              <a:t>Visual Studio i Rider: otvorite Vjezba3.sln. Svaki zadatak je zaseban projekt.</a:t>
            </a:r>
          </a:p>
          <a:p>
            <a:pPr marL="285750" indent="-285750">
              <a:spcAft>
                <a:spcPts val="800"/>
              </a:spcAft>
              <a:buChar char="•"/>
            </a:pPr>
            <a:r>
              <a:rPr sz="1500">
                <a:solidFill>
                  <a:schemeClr val="tx1"/>
                </a:solidFill>
              </a:rPr>
              <a:t>Odaberite projekt zadatka (Set as Startup Project) i pokrenite s F5.</a:t>
            </a:r>
          </a:p>
          <a:p>
            <a:pPr marL="285750" indent="-285750">
              <a:spcAft>
                <a:spcPts val="800"/>
              </a:spcAft>
              <a:buChar char="•"/>
            </a:pPr>
            <a:r>
              <a:rPr sz="1500">
                <a:solidFill>
                  <a:schemeClr val="tx1"/>
                </a:solidFill>
              </a:rPr>
              <a:t>VS Code: Open Folder, konfiguracija »zadatak N«. Terminal: dotnet run u mapi zadatka.</a:t>
            </a:r>
          </a:p>
        </p:txBody>
      </p:sp>
      <p:sp>
        <p:nvSpPr>
          <p:cNvPr id="15" name="TextBox 14"/>
          <p:cNvSpPr txBox="1"/>
          <p:nvPr/>
        </p:nvSpPr>
        <p:spPr>
          <a:xfrm>
            <a:off x="841248" y="5349240"/>
            <a:ext cx="10607040" cy="457200"/>
          </a:xfrm>
          <a:prstGeom prst="rect">
            <a:avLst/>
          </a:prstGeom>
          <a:noFill/>
        </p:spPr>
        <p:txBody>
          <a:bodyPr wrap="square" lIns="0" rIns="0" tIns="0" bIns="0" anchor="t">
            <a:spAutoFit/>
          </a:bodyPr>
          <a:lstStyle/>
          <a:p>
            <a:pPr algn="l"/>
            <a:r>
              <a:rPr sz="1700" b="1">
                <a:solidFill>
                  <a:schemeClr val="tx2"/>
                </a:solidFill>
              </a:rPr>
              <a:t>Za mjerenje vremena pokrećite program u Release konfiguraciji, ne u Debugu.</a:t>
            </a:r>
          </a:p>
        </p:txBody>
      </p:sp>
      <p:sp>
        <p:nvSpPr>
          <p:cNvPr id="16" name="TextBox 15"/>
          <p:cNvSpPr txBox="1"/>
          <p:nvPr/>
        </p:nvSpPr>
        <p:spPr>
          <a:xfrm>
            <a:off x="841248" y="5806440"/>
            <a:ext cx="10607040" cy="548640"/>
          </a:xfrm>
          <a:prstGeom prst="rect">
            <a:avLst/>
          </a:prstGeom>
          <a:noFill/>
        </p:spPr>
        <p:txBody>
          <a:bodyPr wrap="square" lIns="0" rIns="0" tIns="0" bIns="0" anchor="t">
            <a:spAutoFit/>
          </a:bodyPr>
          <a:lstStyle/>
          <a:p>
            <a:pPr algn="l"/>
            <a:r>
              <a:rPr sz="1500" b="0">
                <a:solidFill>
                  <a:schemeClr val="tx2"/>
                </a:solidFill>
              </a:rPr>
              <a:t>Imate samo Visual Studio 2022? U .csproj datoteci svakog zadatka promijenite net10.0 u net8.0 (u VS Codeu i u .vscode/launch.json). Zadaci rade jednako.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Što ćemo napraviti</a:t>
            </a:r>
          </a:p>
        </p:txBody>
      </p:sp>
      <p:sp>
        <p:nvSpPr>
          <p:cNvPr id="3" name="Card 1"/>
          <p:cNvSpPr/>
          <p:nvPr/>
        </p:nvSpPr>
        <p:spPr>
          <a:xfrm>
            <a:off x="841248" y="1737360"/>
            <a:ext cx="3383280" cy="2926080"/>
          </a:xfrm>
          <a:prstGeom prst="roundRect">
            <a:avLst>
              <a:gd name="adj" fmla="val 8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1965960"/>
            <a:ext cx="2834640" cy="548640"/>
          </a:xfrm>
          <a:prstGeom prst="rect">
            <a:avLst/>
          </a:prstGeom>
          <a:noFill/>
        </p:spPr>
        <p:txBody>
          <a:bodyPr wrap="square" lIns="0" rIns="0" tIns="0" bIns="0" anchor="t">
            <a:spAutoFit/>
          </a:bodyPr>
          <a:lstStyle/>
          <a:p>
            <a:pPr algn="l"/>
            <a:r>
              <a:rPr sz="2800" b="1">
                <a:solidFill>
                  <a:schemeClr val="accent1"/>
                </a:solidFill>
              </a:rPr>
              <a:t>Izmjeriti</a:t>
            </a:r>
          </a:p>
        </p:txBody>
      </p:sp>
      <p:sp>
        <p:nvSpPr>
          <p:cNvPr id="5" name="TextBox 4"/>
          <p:cNvSpPr txBox="1"/>
          <p:nvPr/>
        </p:nvSpPr>
        <p:spPr>
          <a:xfrm>
            <a:off x="1115568" y="2743200"/>
            <a:ext cx="2834640" cy="1737360"/>
          </a:xfrm>
          <a:prstGeom prst="rect">
            <a:avLst/>
          </a:prstGeom>
          <a:noFill/>
        </p:spPr>
        <p:txBody>
          <a:bodyPr wrap="square" lIns="0" rIns="0" tIns="0" bIns="0" anchor="t">
            <a:spAutoFit/>
          </a:bodyPr>
          <a:lstStyle/>
          <a:p>
            <a:pPr algn="l"/>
            <a:r>
              <a:rPr sz="2000" b="0">
                <a:solidFill>
                  <a:schemeClr val="tx1"/>
                </a:solidFill>
              </a:rPr>
              <a:t>ubrzanje i usporediti ga s Amdahlovim zakonom; iz mjerenja procijeniti slijedni udio</a:t>
            </a:r>
          </a:p>
        </p:txBody>
      </p:sp>
      <p:sp>
        <p:nvSpPr>
          <p:cNvPr id="6" name="Card 2"/>
          <p:cNvSpPr/>
          <p:nvPr/>
        </p:nvSpPr>
        <p:spPr>
          <a:xfrm>
            <a:off x="4453128" y="1737360"/>
            <a:ext cx="3383280" cy="2926080"/>
          </a:xfrm>
          <a:prstGeom prst="roundRect">
            <a:avLst>
              <a:gd name="adj" fmla="val 8000"/>
            </a:avLst>
          </a:prstGeom>
          <a:solidFill>
            <a:schemeClr val="accent3">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965960"/>
            <a:ext cx="2834640" cy="548640"/>
          </a:xfrm>
          <a:prstGeom prst="rect">
            <a:avLst/>
          </a:prstGeom>
          <a:noFill/>
        </p:spPr>
        <p:txBody>
          <a:bodyPr wrap="square" lIns="0" rIns="0" tIns="0" bIns="0" anchor="t">
            <a:spAutoFit/>
          </a:bodyPr>
          <a:lstStyle/>
          <a:p>
            <a:pPr algn="l"/>
            <a:r>
              <a:rPr sz="2800" b="1">
                <a:solidFill>
                  <a:schemeClr val="accent3"/>
                </a:solidFill>
              </a:rPr>
              <a:t>Podijeliti</a:t>
            </a:r>
          </a:p>
        </p:txBody>
      </p:sp>
      <p:sp>
        <p:nvSpPr>
          <p:cNvPr id="8" name="TextBox 7"/>
          <p:cNvSpPr txBox="1"/>
          <p:nvPr/>
        </p:nvSpPr>
        <p:spPr>
          <a:xfrm>
            <a:off x="4727448" y="2743200"/>
            <a:ext cx="2834640" cy="1737360"/>
          </a:xfrm>
          <a:prstGeom prst="rect">
            <a:avLst/>
          </a:prstGeom>
          <a:noFill/>
        </p:spPr>
        <p:txBody>
          <a:bodyPr wrap="square" lIns="0" rIns="0" tIns="0" bIns="0" anchor="t">
            <a:spAutoFit/>
          </a:bodyPr>
          <a:lstStyle/>
          <a:p>
            <a:pPr algn="l"/>
            <a:r>
              <a:rPr sz="2000" b="0">
                <a:solidFill>
                  <a:schemeClr val="tx1"/>
                </a:solidFill>
              </a:rPr>
              <a:t>posao tako da svi taskovi rade približno jednako dugo</a:t>
            </a:r>
          </a:p>
        </p:txBody>
      </p:sp>
      <p:sp>
        <p:nvSpPr>
          <p:cNvPr id="9" name="Card 3"/>
          <p:cNvSpPr/>
          <p:nvPr/>
        </p:nvSpPr>
        <p:spPr>
          <a:xfrm>
            <a:off x="8065008" y="1737360"/>
            <a:ext cx="3383280" cy="2926080"/>
          </a:xfrm>
          <a:prstGeom prst="roundRect">
            <a:avLst>
              <a:gd name="adj" fmla="val 8000"/>
            </a:avLst>
          </a:prstGeom>
          <a:solidFill>
            <a:schemeClr val="accent2">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9328" y="1965960"/>
            <a:ext cx="2834640" cy="548640"/>
          </a:xfrm>
          <a:prstGeom prst="rect">
            <a:avLst/>
          </a:prstGeom>
          <a:noFill/>
        </p:spPr>
        <p:txBody>
          <a:bodyPr wrap="square" lIns="0" rIns="0" tIns="0" bIns="0" anchor="t">
            <a:spAutoFit/>
          </a:bodyPr>
          <a:lstStyle/>
          <a:p>
            <a:pPr algn="l"/>
            <a:r>
              <a:rPr sz="2800" b="1">
                <a:solidFill>
                  <a:schemeClr val="accent2">
                    <a:lumMod val="75000"/>
                  </a:schemeClr>
                </a:solidFill>
              </a:rPr>
              <a:t>Odmjeriti</a:t>
            </a:r>
          </a:p>
        </p:txBody>
      </p:sp>
      <p:sp>
        <p:nvSpPr>
          <p:cNvPr id="11" name="TextBox 10"/>
          <p:cNvSpPr txBox="1"/>
          <p:nvPr/>
        </p:nvSpPr>
        <p:spPr>
          <a:xfrm>
            <a:off x="8339328" y="2743200"/>
            <a:ext cx="2834640" cy="1737360"/>
          </a:xfrm>
          <a:prstGeom prst="rect">
            <a:avLst/>
          </a:prstGeom>
          <a:noFill/>
        </p:spPr>
        <p:txBody>
          <a:bodyPr wrap="square" lIns="0" rIns="0" tIns="0" bIns="0" anchor="t">
            <a:spAutoFit/>
          </a:bodyPr>
          <a:lstStyle/>
          <a:p>
            <a:pPr algn="l"/>
            <a:r>
              <a:rPr sz="2000" b="0">
                <a:solidFill>
                  <a:schemeClr val="tx1"/>
                </a:solidFill>
              </a:rPr>
              <a:t>koliko posla dati jednom zadatku: ni premalo ni previše</a:t>
            </a:r>
          </a:p>
        </p:txBody>
      </p:sp>
      <p:sp>
        <p:nvSpPr>
          <p:cNvPr id="12" name="TextBox 11"/>
          <p:cNvSpPr txBox="1"/>
          <p:nvPr/>
        </p:nvSpPr>
        <p:spPr>
          <a:xfrm>
            <a:off x="841248" y="5029200"/>
            <a:ext cx="10607040" cy="822960"/>
          </a:xfrm>
          <a:prstGeom prst="rect">
            <a:avLst/>
          </a:prstGeom>
          <a:noFill/>
        </p:spPr>
        <p:txBody>
          <a:bodyPr wrap="square" lIns="0" rIns="0" tIns="0" bIns="0" anchor="t">
            <a:spAutoFit/>
          </a:bodyPr>
          <a:lstStyle/>
          <a:p>
            <a:pPr algn="l"/>
            <a:r>
              <a:rPr sz="1900" b="1">
                <a:solidFill>
                  <a:schemeClr val="tx2"/>
                </a:solidFill>
              </a:rPr>
              <a:t>Novo u kodu: Parallel.Invoke, ParallelOptions i rasponi (Partitioner.Create). Formule su s predavanja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Ubrzanje, Amdahl i Karp–Flatt</a:t>
            </a:r>
          </a:p>
        </p:txBody>
      </p:sp>
      <p:sp>
        <p:nvSpPr>
          <p:cNvPr id="3" name="Formula card"/>
          <p:cNvSpPr/>
          <p:nvPr/>
        </p:nvSpPr>
        <p:spPr>
          <a:xfrm>
            <a:off x="841248" y="1463040"/>
            <a:ext cx="5669280" cy="3291840"/>
          </a:xfrm>
          <a:prstGeom prst="roundRect">
            <a:avLst>
              <a:gd name="adj" fmla="val 8000"/>
            </a:avLst>
          </a:prstGeom>
          <a:solidFill>
            <a:schemeClr val="accent1">
              <a:lumMod val="12000"/>
              <a:lumOff val="8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00200"/>
            <a:ext cx="5212080" cy="3017520"/>
          </a:xfrm>
          <a:prstGeom prst="rect">
            <a:avLst/>
          </a:prstGeom>
          <a:noFill/>
        </p:spPr>
        <p:txBody>
          <a:bodyPr wrap="square" lIns="0" rIns="0" tIns="0" bIns="0" anchor="t">
            <a:spAutoFit/>
          </a:bodyPr>
          <a:lstStyle/>
          <a:p>
            <a:pPr algn="l">
              <a:spcAft>
                <a:spcPts val="600"/>
              </a:spcAft>
            </a:pPr>
            <a:r>
              <a:rPr sz="1700" b="1">
                <a:solidFill>
                  <a:schemeClr val="accent1"/>
                </a:solidFill>
              </a:rPr>
              <a:t>Ubrzanje</a:t>
            </a:r>
          </a:p>
          <a:p>
            <a:pPr algn="l">
              <a:spcAft>
                <a:spcPts val="600"/>
              </a:spcAft>
            </a:pPr>
            <a:r>
              <a:rPr sz="2000" b="1">
                <a:solidFill>
                  <a:schemeClr val="tx1"/>
                </a:solidFill>
                <a:latin typeface="Consolas"/>
              </a:rPr>
              <a:t>S = T(1) / T(k)</a:t>
            </a:r>
          </a:p>
          <a:p>
            <a:pPr algn="l">
              <a:spcAft>
                <a:spcPts val="600"/>
              </a:spcAft>
            </a:pPr>
            <a:r>
              <a:rPr sz="1700" b="1">
                <a:solidFill>
                  <a:schemeClr val="accent1"/>
                </a:solidFill>
              </a:rPr>
              <a:t>Amdahl (f = slijedni udio)</a:t>
            </a:r>
          </a:p>
          <a:p>
            <a:pPr algn="l">
              <a:spcAft>
                <a:spcPts val="600"/>
              </a:spcAft>
            </a:pPr>
            <a:r>
              <a:rPr sz="2000" b="1">
                <a:solidFill>
                  <a:schemeClr val="tx1"/>
                </a:solidFill>
                <a:latin typeface="Consolas"/>
              </a:rPr>
              <a:t>S ≤ 1 / (f + (1 − f) / k)</a:t>
            </a:r>
          </a:p>
          <a:p>
            <a:pPr algn="l">
              <a:spcAft>
                <a:spcPts val="600"/>
              </a:spcAft>
            </a:pPr>
            <a:r>
              <a:rPr sz="1700" b="1">
                <a:solidFill>
                  <a:schemeClr val="accent1"/>
                </a:solidFill>
              </a:rPr>
              <a:t>Karp–Flatt: slijedni udio e procijenjen iz mjerenja</a:t>
            </a:r>
          </a:p>
          <a:p>
            <a:pPr algn="l">
              <a:spcAft>
                <a:spcPts val="600"/>
              </a:spcAft>
            </a:pPr>
            <a:r>
              <a:rPr sz="2000" b="1">
                <a:solidFill>
                  <a:schemeClr val="tx1"/>
                </a:solidFill>
                <a:latin typeface="Consolas"/>
              </a:rPr>
              <a:t>e = (1/S − 1/k) / (1 − 1/k)</a:t>
            </a:r>
          </a:p>
        </p:txBody>
      </p:sp>
      <p:sp>
        <p:nvSpPr>
          <p:cNvPr id="5" name="TextBox 4"/>
          <p:cNvSpPr txBox="1"/>
          <p:nvPr/>
        </p:nvSpPr>
        <p:spPr>
          <a:xfrm>
            <a:off x="6858000" y="1463040"/>
            <a:ext cx="4572000" cy="4389120"/>
          </a:xfrm>
          <a:prstGeom prst="rect">
            <a:avLst/>
          </a:prstGeom>
          <a:noFill/>
        </p:spPr>
        <p:txBody>
          <a:bodyPr wrap="square" lIns="0" rIns="0" tIns="0" bIns="0">
            <a:spAutoFit/>
          </a:bodyPr>
          <a:lstStyle/>
          <a:p>
            <a:pPr marL="285750" indent="-285750">
              <a:spcAft>
                <a:spcPts val="1000"/>
              </a:spcAft>
              <a:buChar char="•"/>
            </a:pPr>
            <a:r>
              <a:rPr sz="1800">
                <a:solidFill>
                  <a:schemeClr val="tx1"/>
                </a:solidFill>
              </a:rPr>
              <a:t>T(1) je vrijeme istog programa s jednim taskom.</a:t>
            </a:r>
          </a:p>
          <a:p>
            <a:pPr marL="285750" indent="-285750">
              <a:spcAft>
                <a:spcPts val="1000"/>
              </a:spcAft>
              <a:buChar char="•"/>
            </a:pPr>
            <a:r>
              <a:rPr sz="1800">
                <a:solidFill>
                  <a:schemeClr val="tx1"/>
                </a:solidFill>
              </a:rPr>
              <a:t>e je isti za svaki k: ubrzanje ograničava slijedni dio.</a:t>
            </a:r>
          </a:p>
          <a:p>
            <a:pPr marL="285750" indent="-285750">
              <a:spcAft>
                <a:spcPts val="1000"/>
              </a:spcAft>
              <a:buChar char="•"/>
            </a:pPr>
            <a:r>
              <a:rPr sz="1800">
                <a:solidFill>
                  <a:schemeClr val="tx1"/>
                </a:solidFill>
              </a:rPr>
              <a:t>e raste s k: ograničenje su tara i hardver (npr. više taskova nego fizičkih jezgri).</a:t>
            </a:r>
          </a:p>
          <a:p>
            <a:pPr marL="285750" indent="-285750">
              <a:spcAft>
                <a:spcPts val="1000"/>
              </a:spcAft>
              <a:buChar char="•"/>
            </a:pPr>
            <a:r>
              <a:rPr sz="1800">
                <a:solidFill>
                  <a:schemeClr val="tx1"/>
                </a:solidFill>
              </a:rPr>
              <a:t>Primjer: f = 0,1, k = 4, izmjereno S = 2,88: e = (0,347 − 0,25) / 0,75 ≈ 0,13.</a:t>
            </a:r>
          </a:p>
        </p:txBody>
      </p:sp>
      <p:sp>
        <p:nvSpPr>
          <p:cNvPr id="6" name="TextBox 5"/>
          <p:cNvSpPr txBox="1"/>
          <p:nvPr/>
        </p:nvSpPr>
        <p:spPr>
          <a:xfrm>
            <a:off x="841248" y="4937760"/>
            <a:ext cx="5669280" cy="914400"/>
          </a:xfrm>
          <a:prstGeom prst="rect">
            <a:avLst/>
          </a:prstGeom>
          <a:noFill/>
        </p:spPr>
        <p:txBody>
          <a:bodyPr wrap="square" lIns="0" rIns="0" tIns="0" bIns="0" anchor="t">
            <a:spAutoFit/>
          </a:bodyPr>
          <a:lstStyle/>
          <a:p>
            <a:pPr algn="l"/>
            <a:r>
              <a:rPr sz="1600" b="0">
                <a:solidFill>
                  <a:schemeClr val="tx2"/>
                </a:solidFill>
              </a:rPr>
              <a:t>Na predavanju: 1 − P umjesto f, N umjesto k. Oznake: slajd 14 predavanja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Pouzdano mjerenje</a:t>
            </a:r>
          </a:p>
        </p:txBody>
      </p:sp>
      <p:sp>
        <p:nvSpPr>
          <p:cNvPr id="3" name="TextBox 2"/>
          <p:cNvSpPr txBox="1"/>
          <p:nvPr/>
        </p:nvSpPr>
        <p:spPr>
          <a:xfrm>
            <a:off x="841248" y="1463040"/>
            <a:ext cx="6035040" cy="4389120"/>
          </a:xfrm>
          <a:prstGeom prst="rect">
            <a:avLst/>
          </a:prstGeom>
          <a:noFill/>
        </p:spPr>
        <p:txBody>
          <a:bodyPr wrap="square" lIns="0" rIns="0" tIns="0" bIns="0">
            <a:spAutoFit/>
          </a:bodyPr>
          <a:lstStyle/>
          <a:p>
            <a:pPr marL="285750" indent="-285750">
              <a:spcAft>
                <a:spcPts val="1000"/>
              </a:spcAft>
              <a:buChar char="•"/>
            </a:pPr>
            <a:r>
              <a:rPr sz="1800">
                <a:solidFill>
                  <a:schemeClr val="tx1"/>
                </a:solidFill>
              </a:rPr>
              <a:t>Release konfiguracija; Debug je sporiji i nepouzdan.</a:t>
            </a:r>
          </a:p>
          <a:p>
            <a:pPr marL="285750" indent="-285750">
              <a:spcAft>
                <a:spcPts val="1000"/>
              </a:spcAft>
              <a:buChar char="•"/>
            </a:pPr>
            <a:r>
              <a:rPr sz="1800">
                <a:solidFill>
                  <a:schemeClr val="tx1"/>
                </a:solidFill>
              </a:rPr>
              <a:t>Zagrijavanje: jedno pokretanje prije mjerenja.</a:t>
            </a:r>
          </a:p>
          <a:p>
            <a:pPr marL="285750" indent="-285750">
              <a:spcAft>
                <a:spcPts val="1000"/>
              </a:spcAft>
              <a:buChar char="•"/>
            </a:pPr>
            <a:r>
              <a:rPr sz="1800">
                <a:solidFill>
                  <a:schemeClr val="tx1"/>
                </a:solidFill>
              </a:rPr>
              <a:t>Najkraće od tri (ili pet) mjerenja.</a:t>
            </a:r>
          </a:p>
          <a:p>
            <a:pPr marL="285750" indent="-285750">
              <a:spcAft>
                <a:spcPts val="1000"/>
              </a:spcAft>
              <a:buChar char="•"/>
            </a:pPr>
            <a:r>
              <a:rPr sz="1800">
                <a:solidFill>
                  <a:schemeClr val="tx1"/>
                </a:solidFill>
              </a:rPr>
              <a:t>Zatvorite druge zahtjevne programe.</a:t>
            </a:r>
          </a:p>
          <a:p>
            <a:pPr marL="285750" indent="-285750">
              <a:spcAft>
                <a:spcPts val="1000"/>
              </a:spcAft>
              <a:buChar char="•"/>
            </a:pPr>
            <a:r>
              <a:rPr sz="1800">
                <a:solidFill>
                  <a:schemeClr val="tx1"/>
                </a:solidFill>
              </a:rPr>
              <a:t>U .csproj datotekama je TieredCompilation = false: metode se odmah prevode optimizirano [5].</a:t>
            </a:r>
          </a:p>
        </p:txBody>
      </p:sp>
      <p:sp>
        <p:nvSpPr>
          <p:cNvPr id="4" name="Noise card"/>
          <p:cNvSpPr/>
          <p:nvPr/>
        </p:nvSpPr>
        <p:spPr>
          <a:xfrm>
            <a:off x="7132320" y="1463040"/>
            <a:ext cx="4297680" cy="3291840"/>
          </a:xfrm>
          <a:prstGeom prst="roundRect">
            <a:avLst>
              <a:gd name="adj" fmla="val 8000"/>
            </a:avLst>
          </a:prstGeom>
          <a:solidFill>
            <a:schemeClr val="accent2">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60920" y="1600200"/>
            <a:ext cx="3840480" cy="3017520"/>
          </a:xfrm>
          <a:prstGeom prst="rect">
            <a:avLst/>
          </a:prstGeom>
          <a:noFill/>
        </p:spPr>
        <p:txBody>
          <a:bodyPr wrap="square" lIns="0" rIns="0" tIns="0" bIns="0" anchor="t">
            <a:spAutoFit/>
          </a:bodyPr>
          <a:lstStyle/>
          <a:p>
            <a:pPr algn="l">
              <a:spcAft>
                <a:spcPts val="1000"/>
              </a:spcAft>
            </a:pPr>
            <a:r>
              <a:rPr sz="2000" b="1">
                <a:solidFill>
                  <a:schemeClr val="accent2">
                    <a:lumMod val="75000"/>
                  </a:schemeClr>
                </a:solidFill>
              </a:rPr>
              <a:t>Šum mjerenja</a:t>
            </a:r>
          </a:p>
          <a:p>
            <a:pPr algn="l">
              <a:spcAft>
                <a:spcPts val="1000"/>
              </a:spcAft>
            </a:pPr>
            <a:r>
              <a:rPr sz="1700" b="0">
                <a:solidFill>
                  <a:schemeClr val="tx1"/>
                </a:solidFill>
              </a:rPr>
              <a:t>Vremena se između pokretanja mijenjaju za nekoliko posto.</a:t>
            </a:r>
          </a:p>
          <a:p>
            <a:pPr algn="l">
              <a:spcAft>
                <a:spcPts val="1000"/>
              </a:spcAft>
            </a:pPr>
            <a:r>
              <a:rPr sz="1700" b="0">
                <a:solidFill>
                  <a:schemeClr val="tx1"/>
                </a:solidFill>
              </a:rPr>
              <a:t>Zato S ponekad ispadne malo veći od k, a e malo negativan. To nije greška u programu.</a:t>
            </a:r>
          </a:p>
        </p:txBody>
      </p:sp>
      <p:sp>
        <p:nvSpPr>
          <p:cNvPr id="6" name="TextBox 5"/>
          <p:cNvSpPr txBox="1"/>
          <p:nvPr/>
        </p:nvSpPr>
        <p:spPr>
          <a:xfrm>
            <a:off x="841248" y="5669280"/>
            <a:ext cx="10607040" cy="548640"/>
          </a:xfrm>
          <a:prstGeom prst="rect">
            <a:avLst/>
          </a:prstGeom>
          <a:noFill/>
        </p:spPr>
        <p:txBody>
          <a:bodyPr wrap="square" lIns="0" rIns="0" tIns="0" bIns="0" anchor="t">
            <a:spAutoFit/>
          </a:bodyPr>
          <a:lstStyle/>
          <a:p>
            <a:pPr algn="l"/>
            <a:r>
              <a:rPr sz="1800" b="1">
                <a:solidFill>
                  <a:schemeClr val="tx2"/>
                </a:solidFill>
              </a:rPr>
              <a:t>Uspoređujte oblik rezultata, a ne točne brojeve.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Koliko je radio svaki task</a:t>
            </a:r>
          </a:p>
        </p:txBody>
      </p:sp>
      <p:sp>
        <p:nvSpPr>
          <p:cNvPr id="3" name="Code duration"/>
          <p:cNvSpPr/>
          <p:nvPr/>
        </p:nvSpPr>
        <p:spPr>
          <a:xfrm>
            <a:off x="841248" y="1463040"/>
            <a:ext cx="6400800" cy="3749039"/>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500" b="0">
                <a:solidFill>
                  <a:schemeClr val="bg1"/>
                </a:solidFill>
                <a:latin typeface="Consolas"/>
              </a:rPr>
              <a:t>var trajanje = new long[k];</a:t>
            </a:r>
          </a:p>
          <a:p>
            <a:pPr algn="l"/>
            <a:r>
              <a:rPr sz="1500" b="0">
                <a:solidFill>
                  <a:schemeClr val="bg1"/>
                </a:solidFill>
                <a:latin typeface="Consolas"/>
              </a:rPr>
              <a:t>for (int j = 0; j &lt; k; j++)</a:t>
            </a:r>
          </a:p>
          <a:p>
            <a:pPr algn="l"/>
            <a:r>
              <a:rPr sz="1500" b="0">
                <a:solidFill>
                  <a:schemeClr val="bg1"/>
                </a:solidFill>
                <a:latin typeface="Consolas"/>
              </a:rPr>
              <a:t>{</a:t>
            </a:r>
          </a:p>
          <a:p>
            <a:pPr algn="l"/>
            <a:r>
              <a:rPr sz="1500" b="0">
                <a:solidFill>
                  <a:schemeClr val="bg1"/>
                </a:solidFill>
                <a:latin typeface="Consolas"/>
              </a:rPr>
              <a:t>    int indeks = j;      // kopija za closure</a:t>
            </a:r>
          </a:p>
          <a:p>
            <a:pPr algn="l"/>
            <a:r>
              <a:rPr sz="1500" b="0">
                <a:solidFill>
                  <a:schemeClr val="bg1"/>
                </a:solidFill>
                <a:latin typeface="Consolas"/>
              </a:rPr>
              <a:t>    zadaci[j] = Task.Run(() =&gt;</a:t>
            </a:r>
          </a:p>
          <a:p>
            <a:pPr algn="l"/>
            <a:r>
              <a:rPr sz="1500" b="0">
                <a:solidFill>
                  <a:schemeClr val="bg1"/>
                </a:solidFill>
                <a:latin typeface="Consolas"/>
              </a:rPr>
              <a:t>    {</a:t>
            </a:r>
          </a:p>
          <a:p>
            <a:pPr algn="l"/>
            <a:r>
              <a:rPr sz="1500" b="0">
                <a:solidFill>
                  <a:schemeClr val="bg1"/>
                </a:solidFill>
                <a:latin typeface="Consolas"/>
              </a:rPr>
              <a:t>        var sat = Stopwatch.StartNew();</a:t>
            </a:r>
          </a:p>
          <a:p>
            <a:pPr algn="l"/>
            <a:r>
              <a:rPr sz="1500" b="0">
                <a:solidFill>
                  <a:schemeClr val="bg1"/>
                </a:solidFill>
                <a:latin typeface="Consolas"/>
              </a:rPr>
              <a:t>        ...              // posao dijela</a:t>
            </a:r>
          </a:p>
          <a:p>
            <a:pPr algn="l"/>
            <a:r>
              <a:rPr sz="1500" b="0">
                <a:solidFill>
                  <a:schemeClr val="bg1"/>
                </a:solidFill>
                <a:latin typeface="Consolas"/>
              </a:rPr>
              <a:t>        trajanje[indeks] = sat.ElapsedMilliseconds;</a:t>
            </a:r>
          </a:p>
          <a:p>
            <a:pPr algn="l"/>
            <a:r>
              <a:rPr sz="1500" b="0">
                <a:solidFill>
                  <a:schemeClr val="bg1"/>
                </a:solidFill>
                <a:latin typeface="Consolas"/>
              </a:rPr>
              <a:t>    });</a:t>
            </a:r>
          </a:p>
          <a:p>
            <a:pPr algn="l"/>
            <a:r>
              <a:rPr sz="1500" b="0">
                <a:solidFill>
                  <a:schemeClr val="bg1"/>
                </a:solidFill>
                <a:latin typeface="Consolas"/>
              </a:rPr>
              <a:t>}</a:t>
            </a:r>
          </a:p>
        </p:txBody>
      </p:sp>
      <p:sp>
        <p:nvSpPr>
          <p:cNvPr id="4" name="TextBox 3"/>
          <p:cNvSpPr txBox="1"/>
          <p:nvPr/>
        </p:nvSpPr>
        <p:spPr>
          <a:xfrm>
            <a:off x="7498079" y="1463040"/>
            <a:ext cx="3931920" cy="4206240"/>
          </a:xfrm>
          <a:prstGeom prst="rect">
            <a:avLst/>
          </a:prstGeom>
          <a:noFill/>
        </p:spPr>
        <p:txBody>
          <a:bodyPr wrap="square" lIns="0" rIns="0" tIns="0" bIns="0">
            <a:spAutoFit/>
          </a:bodyPr>
          <a:lstStyle/>
          <a:p>
            <a:pPr marL="285750" indent="-285750">
              <a:spcAft>
                <a:spcPts val="1000"/>
              </a:spcAft>
              <a:buChar char="•"/>
            </a:pPr>
            <a:r>
              <a:rPr sz="1700">
                <a:solidFill>
                  <a:schemeClr val="tx1"/>
                </a:solidFill>
              </a:rPr>
              <a:t>Sat se pokreće unutar taska, pa mjeri samo njegov posao.</a:t>
            </a:r>
          </a:p>
          <a:p>
            <a:pPr marL="285750" indent="-285750">
              <a:spcAft>
                <a:spcPts val="1000"/>
              </a:spcAft>
              <a:buChar char="•"/>
            </a:pPr>
            <a:r>
              <a:rPr sz="1700">
                <a:solidFill>
                  <a:schemeClr val="tx1"/>
                </a:solidFill>
              </a:rPr>
              <a:t>Svaki task piše u svoj element polja: nema data racea.</a:t>
            </a:r>
          </a:p>
          <a:p>
            <a:pPr marL="285750" indent="-285750">
              <a:spcAft>
                <a:spcPts val="1000"/>
              </a:spcAft>
              <a:buChar char="•"/>
            </a:pPr>
            <a:r>
              <a:rPr sz="1700">
                <a:solidFill>
                  <a:schemeClr val="tx1"/>
                </a:solidFill>
              </a:rPr>
              <a:t>Bez kopije svi taskovi dijele j, koji je nakon petlje k: indeks izvan polja (zamka A iz vježbe 2).</a:t>
            </a:r>
          </a:p>
          <a:p>
            <a:pPr marL="285750" indent="-285750">
              <a:spcAft>
                <a:spcPts val="1000"/>
              </a:spcAft>
              <a:buChar char="•"/>
            </a:pPr>
            <a:r>
              <a:rPr sz="1700">
                <a:solidFill>
                  <a:schemeClr val="tx1"/>
                </a:solidFill>
              </a:rPr>
              <a:t>Ukupno vrijeme = vrijeme najsporijeg taska.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Parallel.Invoke: više poslova</a:t>
            </a:r>
          </a:p>
        </p:txBody>
      </p:sp>
      <p:sp>
        <p:nvSpPr>
          <p:cNvPr id="3" name="Code invoke"/>
          <p:cNvSpPr/>
          <p:nvPr/>
        </p:nvSpPr>
        <p:spPr>
          <a:xfrm>
            <a:off x="841248" y="1463040"/>
            <a:ext cx="6400800" cy="23774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700" b="0">
                <a:solidFill>
                  <a:schemeClr val="bg1"/>
                </a:solidFill>
                <a:latin typeface="Consolas"/>
              </a:rPr>
              <a:t>int rijeci = 0;</a:t>
            </a:r>
          </a:p>
          <a:p>
            <a:pPr algn="l"/>
            <a:r>
              <a:rPr sz="1700" b="0">
                <a:solidFill>
                  <a:schemeClr val="bg1"/>
                </a:solidFill>
                <a:latin typeface="Consolas"/>
              </a:rPr>
              <a:t>long zbroj = 0;</a:t>
            </a:r>
          </a:p>
          <a:p>
            <a:pPr algn="l"/>
            <a:r>
              <a:rPr sz="1700" b="0">
                <a:solidFill>
                  <a:schemeClr val="bg1"/>
                </a:solidFill>
                <a:latin typeface="Consolas"/>
              </a:rPr>
              <a:t>Parallel.Invoke(</a:t>
            </a:r>
          </a:p>
          <a:p>
            <a:pPr algn="l"/>
            <a:r>
              <a:rPr sz="1700" b="0">
                <a:solidFill>
                  <a:schemeClr val="bg1"/>
                </a:solidFill>
                <a:latin typeface="Consolas"/>
              </a:rPr>
              <a:t>    () =&gt; rijeci = BrojRijeci(tekst),</a:t>
            </a:r>
          </a:p>
          <a:p>
            <a:pPr algn="l"/>
            <a:r>
              <a:rPr sz="1700" b="0">
                <a:solidFill>
                  <a:schemeClr val="bg1"/>
                </a:solidFill>
                <a:latin typeface="Consolas"/>
              </a:rPr>
              <a:t>    () =&gt; zbroj = Zbroji(1, n));</a:t>
            </a:r>
          </a:p>
        </p:txBody>
      </p:sp>
      <p:sp>
        <p:nvSpPr>
          <p:cNvPr id="4" name="TextBox 3"/>
          <p:cNvSpPr txBox="1"/>
          <p:nvPr/>
        </p:nvSpPr>
        <p:spPr>
          <a:xfrm>
            <a:off x="7498079" y="1463040"/>
            <a:ext cx="3931920" cy="4389120"/>
          </a:xfrm>
          <a:prstGeom prst="rect">
            <a:avLst/>
          </a:prstGeom>
          <a:noFill/>
        </p:spPr>
        <p:txBody>
          <a:bodyPr wrap="square" lIns="0" rIns="0" tIns="0" bIns="0">
            <a:spAutoFit/>
          </a:bodyPr>
          <a:lstStyle/>
          <a:p>
            <a:pPr marL="285750" indent="-285750">
              <a:spcAft>
                <a:spcPts val="1000"/>
              </a:spcAft>
              <a:buChar char="•"/>
            </a:pPr>
            <a:r>
              <a:rPr sz="1700">
                <a:solidFill>
                  <a:schemeClr val="tx1"/>
                </a:solidFill>
              </a:rPr>
              <a:t>Prima više akcija (lambda bez rezultata) i izvodi ih, po mogućnosti istodobno; redoslijed nije zajamčen [1].</a:t>
            </a:r>
          </a:p>
          <a:p>
            <a:pPr marL="285750" indent="-285750">
              <a:spcAft>
                <a:spcPts val="1000"/>
              </a:spcAft>
              <a:buChar char="•"/>
            </a:pPr>
            <a:r>
              <a:rPr sz="1700">
                <a:solidFill>
                  <a:schemeClr val="tx1"/>
                </a:solidFill>
              </a:rPr>
              <a:t>Završava tek kad su sve akcije gotove.</a:t>
            </a:r>
          </a:p>
          <a:p>
            <a:pPr marL="285750" indent="-285750">
              <a:spcAft>
                <a:spcPts val="1000"/>
              </a:spcAft>
              <a:buChar char="•"/>
            </a:pPr>
            <a:r>
              <a:rPr sz="1700">
                <a:solidFill>
                  <a:schemeClr val="tx1"/>
                </a:solidFill>
              </a:rPr>
              <a:t>Rezultat svaka akcija upisuje u svoju varijablu (Bernsteinovi uvjeti).</a:t>
            </a:r>
          </a:p>
          <a:p>
            <a:pPr marL="285750" indent="-285750">
              <a:spcAft>
                <a:spcPts val="1000"/>
              </a:spcAft>
              <a:buChar char="•"/>
            </a:pPr>
            <a:r>
              <a:rPr sz="1700">
                <a:solidFill>
                  <a:schemeClr val="tx1"/>
                </a:solidFill>
              </a:rPr>
              <a:t>Paralelizam zadataka: različiti poslovi, ne isti posao nad dijelovima podataka.</a:t>
            </a:r>
          </a:p>
        </p:txBody>
      </p:sp>
      <p:sp>
        <p:nvSpPr>
          <p:cNvPr id="5" name="TextBox 4"/>
          <p:cNvSpPr txBox="1"/>
          <p:nvPr/>
        </p:nvSpPr>
        <p:spPr>
          <a:xfrm>
            <a:off x="841248" y="4114800"/>
            <a:ext cx="6400800" cy="1371600"/>
          </a:xfrm>
          <a:prstGeom prst="rect">
            <a:avLst/>
          </a:prstGeom>
          <a:noFill/>
        </p:spPr>
        <p:txBody>
          <a:bodyPr wrap="square" lIns="0" rIns="0" tIns="0" bIns="0" anchor="t">
            <a:spAutoFit/>
          </a:bodyPr>
          <a:lstStyle/>
          <a:p>
            <a:pPr algn="l"/>
            <a:r>
              <a:rPr sz="1700" b="1">
                <a:solidFill>
                  <a:schemeClr val="tx2"/>
                </a:solidFill>
              </a:rPr>
              <a:t>Kao Paralelno&lt;T, U&gt; iz vježbe 2, ali za bilo koji broj poslova.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ParallelOptions: najviše k niti</a:t>
            </a:r>
          </a:p>
        </p:txBody>
      </p:sp>
      <p:sp>
        <p:nvSpPr>
          <p:cNvPr id="3" name="Code options"/>
          <p:cNvSpPr/>
          <p:nvPr/>
        </p:nvSpPr>
        <p:spPr>
          <a:xfrm>
            <a:off x="841248" y="1463040"/>
            <a:ext cx="6400800" cy="26517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700" b="0">
                <a:solidFill>
                  <a:schemeClr val="bg1"/>
                </a:solidFill>
                <a:latin typeface="Consolas"/>
              </a:rPr>
              <a:t>var opcije = new ParallelOptions</a:t>
            </a:r>
          </a:p>
          <a:p>
            <a:pPr algn="l"/>
            <a:r>
              <a:rPr sz="1700" b="0">
                <a:solidFill>
                  <a:schemeClr val="bg1"/>
                </a:solidFill>
                <a:latin typeface="Consolas"/>
              </a:rPr>
              <a:t>{</a:t>
            </a:r>
          </a:p>
          <a:p>
            <a:pPr algn="l"/>
            <a:r>
              <a:rPr sz="1700" b="0">
                <a:solidFill>
                  <a:schemeClr val="bg1"/>
                </a:solidFill>
                <a:latin typeface="Consolas"/>
              </a:rPr>
              <a:t>    MaxDegreeOfParallelism = 2</a:t>
            </a:r>
          </a:p>
          <a:p>
            <a:pPr algn="l"/>
            <a:r>
              <a:rPr sz="1700" b="0">
                <a:solidFill>
                  <a:schemeClr val="bg1"/>
                </a:solidFill>
                <a:latin typeface="Consolas"/>
              </a:rPr>
              <a:t>};</a:t>
            </a:r>
          </a:p>
          <a:p>
            <a:pPr algn="l"/>
            <a:r>
              <a:rPr sz="1700" b="0">
                <a:solidFill>
                  <a:schemeClr val="bg1"/>
                </a:solidFill>
                <a:latin typeface="Consolas"/>
              </a:rPr>
              <a:t>Parallel.For(0, n, opcije, i =&gt; { ... });</a:t>
            </a:r>
          </a:p>
          <a:p>
            <a:pPr algn="l"/>
            <a:r>
              <a:rPr sz="1700" b="0">
                <a:solidFill>
                  <a:schemeClr val="bg1"/>
                </a:solidFill>
                <a:latin typeface="Consolas"/>
              </a:rPr>
              <a:t>Parallel.Invoke(opcije, a, b, c);</a:t>
            </a:r>
          </a:p>
        </p:txBody>
      </p:sp>
      <p:sp>
        <p:nvSpPr>
          <p:cNvPr id="4" name="TextBox 3"/>
          <p:cNvSpPr txBox="1"/>
          <p:nvPr/>
        </p:nvSpPr>
        <p:spPr>
          <a:xfrm>
            <a:off x="7498079" y="1463040"/>
            <a:ext cx="3931920" cy="4389120"/>
          </a:xfrm>
          <a:prstGeom prst="rect">
            <a:avLst/>
          </a:prstGeom>
          <a:noFill/>
        </p:spPr>
        <p:txBody>
          <a:bodyPr wrap="square" lIns="0" rIns="0" tIns="0" bIns="0">
            <a:spAutoFit/>
          </a:bodyPr>
          <a:lstStyle/>
          <a:p>
            <a:pPr marL="285750" indent="-285750">
              <a:spcAft>
                <a:spcPts val="1000"/>
              </a:spcAft>
              <a:buChar char="•"/>
            </a:pPr>
            <a:r>
              <a:rPr sz="1700">
                <a:solidFill>
                  <a:schemeClr val="tx1"/>
                </a:solidFill>
              </a:rPr>
              <a:t>Ograničava koliko iteracija ili akcija radi istodobno [2].</a:t>
            </a:r>
          </a:p>
          <a:p>
            <a:pPr marL="285750" indent="-285750">
              <a:spcAft>
                <a:spcPts val="1000"/>
              </a:spcAft>
              <a:buChar char="•"/>
            </a:pPr>
            <a:r>
              <a:rPr sz="1700">
                <a:solidFill>
                  <a:schemeClr val="tx1"/>
                </a:solidFill>
              </a:rPr>
              <a:t>Vrijednost −1 znači bez ograničenja [2].</a:t>
            </a:r>
          </a:p>
          <a:p>
            <a:pPr marL="285750" indent="-285750">
              <a:spcAft>
                <a:spcPts val="1000"/>
              </a:spcAft>
              <a:buChar char="•"/>
            </a:pPr>
            <a:r>
              <a:rPr sz="1700">
                <a:solidFill>
                  <a:schemeClr val="tx1"/>
                </a:solidFill>
              </a:rPr>
              <a:t>Koristimo ga za poštenu usporedbu: dvije podjele posla na istom broju niti.</a:t>
            </a:r>
          </a:p>
          <a:p>
            <a:pPr marL="285750" indent="-285750">
              <a:spcAft>
                <a:spcPts val="1000"/>
              </a:spcAft>
              <a:buChar char="•"/>
            </a:pPr>
            <a:r>
              <a:rPr sz="1700">
                <a:solidFill>
                  <a:schemeClr val="tx1"/>
                </a:solidFill>
              </a:rPr>
              <a:t>I za pokus: što ako imamo samo dvije jezgre?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Rasponi: Partitioner.Create</a:t>
            </a:r>
          </a:p>
        </p:txBody>
      </p:sp>
      <p:sp>
        <p:nvSpPr>
          <p:cNvPr id="3" name="Code ranges"/>
          <p:cNvSpPr/>
          <p:nvPr/>
        </p:nvSpPr>
        <p:spPr>
          <a:xfrm>
            <a:off x="841248" y="1463040"/>
            <a:ext cx="6583680" cy="30175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600" b="0">
                <a:solidFill>
                  <a:schemeClr val="bg1"/>
                </a:solidFill>
                <a:latin typeface="Consolas"/>
              </a:rPr>
              <a:t>using System.Collections.Concurrent;</a:t>
            </a:r>
          </a:p>
          <a:p>
            <a:pPr algn="l"/>
            <a:r>
              <a:rPr sz="1600" b="0">
                <a:solidFill>
                  <a:schemeClr val="bg1"/>
                </a:solidFill>
                <a:latin typeface="Consolas"/>
              </a:rPr>
              <a:t/>
            </a:r>
          </a:p>
          <a:p>
            <a:pPr algn="l"/>
            <a:r>
              <a:rPr sz="1600" b="0">
                <a:solidFill>
                  <a:schemeClr val="bg1"/>
                </a:solidFill>
                <a:latin typeface="Consolas"/>
              </a:rPr>
              <a:t>Parallel.ForEach(Partitioner.Create(0, n), r =&gt;</a:t>
            </a:r>
          </a:p>
          <a:p>
            <a:pPr algn="l"/>
            <a:r>
              <a:rPr sz="1600" b="0">
                <a:solidFill>
                  <a:schemeClr val="bg1"/>
                </a:solidFill>
                <a:latin typeface="Consolas"/>
              </a:rPr>
              <a:t>{</a:t>
            </a:r>
          </a:p>
          <a:p>
            <a:pPr algn="l"/>
            <a:r>
              <a:rPr sz="1600" b="0">
                <a:solidFill>
                  <a:schemeClr val="bg1"/>
                </a:solidFill>
                <a:latin typeface="Consolas"/>
              </a:rPr>
              <a:t>    for (int i = r.Item1; i &lt; r.Item2; i++)</a:t>
            </a:r>
          </a:p>
          <a:p>
            <a:pPr algn="l"/>
            <a:r>
              <a:rPr sz="1600" b="0">
                <a:solidFill>
                  <a:schemeClr val="bg1"/>
                </a:solidFill>
                <a:latin typeface="Consolas"/>
              </a:rPr>
              <a:t>        b[i] = a[i] * 2;</a:t>
            </a:r>
          </a:p>
          <a:p>
            <a:pPr algn="l"/>
            <a:r>
              <a:rPr sz="1600" b="0">
                <a:solidFill>
                  <a:schemeClr val="bg1"/>
                </a:solidFill>
                <a:latin typeface="Consolas"/>
              </a:rPr>
              <a:t>});</a:t>
            </a:r>
          </a:p>
        </p:txBody>
      </p:sp>
      <p:sp>
        <p:nvSpPr>
          <p:cNvPr id="4" name="TextBox 3"/>
          <p:cNvSpPr txBox="1"/>
          <p:nvPr/>
        </p:nvSpPr>
        <p:spPr>
          <a:xfrm>
            <a:off x="7680960" y="1463040"/>
            <a:ext cx="3749039" cy="4389120"/>
          </a:xfrm>
          <a:prstGeom prst="rect">
            <a:avLst/>
          </a:prstGeom>
          <a:noFill/>
        </p:spPr>
        <p:txBody>
          <a:bodyPr wrap="square" lIns="0" rIns="0" tIns="0" bIns="0">
            <a:spAutoFit/>
          </a:bodyPr>
          <a:lstStyle/>
          <a:p>
            <a:pPr marL="285750" indent="-285750">
              <a:spcAft>
                <a:spcPts val="1000"/>
              </a:spcAft>
              <a:buChar char="•"/>
            </a:pPr>
            <a:r>
              <a:rPr sz="1700">
                <a:solidFill>
                  <a:schemeClr val="tx1"/>
                </a:solidFill>
              </a:rPr>
              <a:t>Partitioner.Create(0, n) dijeli [0, n) na raspone [3].</a:t>
            </a:r>
          </a:p>
          <a:p>
            <a:pPr marL="285750" indent="-285750">
              <a:spcAft>
                <a:spcPts val="1000"/>
              </a:spcAft>
              <a:buChar char="•"/>
            </a:pPr>
            <a:r>
              <a:rPr sz="1700">
                <a:solidFill>
                  <a:schemeClr val="tx1"/>
                </a:solidFill>
              </a:rPr>
              <a:t>Delegat se poziva jednom po rasponu, a ne za svaki element [4].</a:t>
            </a:r>
          </a:p>
          <a:p>
            <a:pPr marL="285750" indent="-285750">
              <a:spcAft>
                <a:spcPts val="1000"/>
              </a:spcAft>
              <a:buChar char="•"/>
            </a:pPr>
            <a:r>
              <a:rPr sz="1700">
                <a:solidFill>
                  <a:schemeClr val="tx1"/>
                </a:solidFill>
              </a:rPr>
              <a:t>Partitioner.Create(0, n, velicina) zadaje veličinu raspona.</a:t>
            </a:r>
          </a:p>
        </p:txBody>
      </p:sp>
      <p:sp>
        <p:nvSpPr>
          <p:cNvPr id="5" name="TextBox 4"/>
          <p:cNvSpPr txBox="1"/>
          <p:nvPr/>
        </p:nvSpPr>
        <p:spPr>
          <a:xfrm>
            <a:off x="841248" y="4754880"/>
            <a:ext cx="6583680" cy="1280160"/>
          </a:xfrm>
          <a:prstGeom prst="rect">
            <a:avLst/>
          </a:prstGeom>
          <a:noFill/>
        </p:spPr>
        <p:txBody>
          <a:bodyPr wrap="square" lIns="0" rIns="0" tIns="0" bIns="0" anchor="t">
            <a:spAutoFit/>
          </a:bodyPr>
          <a:lstStyle/>
          <a:p>
            <a:pPr algn="l">
              <a:spcAft>
                <a:spcPts val="600"/>
              </a:spcAft>
            </a:pPr>
            <a:r>
              <a:rPr sz="1700" b="0">
                <a:solidFill>
                  <a:schemeClr val="tx1"/>
                </a:solidFill>
              </a:rPr>
              <a:t>r.Item1 je prvi indeks raspona (uključen), r.Item2 kraj (isključen).</a:t>
            </a:r>
          </a:p>
          <a:p>
            <a:pPr algn="l">
              <a:spcAft>
                <a:spcPts val="600"/>
              </a:spcAft>
            </a:pPr>
            <a:r>
              <a:rPr sz="1700" b="0">
                <a:solidFill>
                  <a:schemeClr val="tx1"/>
                </a:solidFill>
              </a:rPr>
              <a:t>Pitanje za zadatak 3: koja veličina raspona je dobra?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Zadatak 1: ubrzanje i Amdahl</a:t>
            </a:r>
          </a:p>
        </p:txBody>
      </p:sp>
      <p:sp>
        <p:nvSpPr>
          <p:cNvPr id="3" name="TextBox 2"/>
          <p:cNvSpPr txBox="1"/>
          <p:nvPr/>
        </p:nvSpPr>
        <p:spPr>
          <a:xfrm>
            <a:off x="841248" y="1371600"/>
            <a:ext cx="10607040" cy="457200"/>
          </a:xfrm>
          <a:prstGeom prst="rect">
            <a:avLst/>
          </a:prstGeom>
          <a:noFill/>
        </p:spPr>
        <p:txBody>
          <a:bodyPr wrap="square" lIns="0" rIns="0" tIns="0" bIns="0" anchor="t">
            <a:spAutoFit/>
          </a:bodyPr>
          <a:lstStyle/>
          <a:p>
            <a:pPr algn="l"/>
            <a:r>
              <a:rPr sz="1700" b="0">
                <a:solidFill>
                  <a:schemeClr val="tx2"/>
                </a:solidFill>
              </a:rPr>
              <a:t>Zadano: zbroj brojeva od 1 do 2·10⁹; prvih f · N mora se zbrojiti slijedno, ostatak se smije dijeliti.</a:t>
            </a:r>
          </a:p>
        </p:txBody>
      </p:sp>
      <p:sp>
        <p:nvSpPr>
          <p:cNvPr id="4" name="TextBox 3"/>
          <p:cNvSpPr txBox="1"/>
          <p:nvPr/>
        </p:nvSpPr>
        <p:spPr>
          <a:xfrm>
            <a:off x="841248" y="1965960"/>
            <a:ext cx="6035040" cy="365760"/>
          </a:xfrm>
          <a:prstGeom prst="rect">
            <a:avLst/>
          </a:prstGeom>
          <a:noFill/>
        </p:spPr>
        <p:txBody>
          <a:bodyPr wrap="square" lIns="0" rIns="0" tIns="0" bIns="0" anchor="t">
            <a:spAutoFit/>
          </a:bodyPr>
          <a:lstStyle/>
          <a:p>
            <a:pPr algn="l"/>
            <a:r>
              <a:rPr sz="1800" b="1">
                <a:solidFill>
                  <a:schemeClr val="accent1"/>
                </a:solidFill>
              </a:rPr>
              <a:t>Što trebate napraviti</a:t>
            </a:r>
          </a:p>
        </p:txBody>
      </p:sp>
      <p:sp>
        <p:nvSpPr>
          <p:cNvPr id="5" name="Step 1"/>
          <p:cNvSpPr/>
          <p:nvPr/>
        </p:nvSpPr>
        <p:spPr>
          <a:xfrm>
            <a:off x="841248" y="246888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1</a:t>
            </a:r>
          </a:p>
        </p:txBody>
      </p:sp>
      <p:sp>
        <p:nvSpPr>
          <p:cNvPr id="6" name="TextBox 5"/>
          <p:cNvSpPr txBox="1"/>
          <p:nvPr/>
        </p:nvSpPr>
        <p:spPr>
          <a:xfrm>
            <a:off x="1463040" y="2450592"/>
            <a:ext cx="4206240" cy="914400"/>
          </a:xfrm>
          <a:prstGeom prst="rect">
            <a:avLst/>
          </a:prstGeom>
          <a:noFill/>
        </p:spPr>
        <p:txBody>
          <a:bodyPr wrap="square" lIns="0" rIns="0" tIns="0" bIns="0" anchor="t">
            <a:spAutoFit/>
          </a:bodyPr>
          <a:lstStyle/>
          <a:p>
            <a:pPr algn="l"/>
            <a:r>
              <a:rPr sz="1700" b="0">
                <a:solidFill>
                  <a:schemeClr val="tx1"/>
                </a:solidFill>
              </a:rPr>
              <a:t>Napišite Program(f, k): slijedni dio na jednoj niti, zatim ostatak na k taskova.</a:t>
            </a:r>
          </a:p>
        </p:txBody>
      </p:sp>
      <p:sp>
        <p:nvSpPr>
          <p:cNvPr id="7" name="Step 2"/>
          <p:cNvSpPr/>
          <p:nvPr/>
        </p:nvSpPr>
        <p:spPr>
          <a:xfrm>
            <a:off x="841248" y="338328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2</a:t>
            </a:r>
          </a:p>
        </p:txBody>
      </p:sp>
      <p:sp>
        <p:nvSpPr>
          <p:cNvPr id="8" name="TextBox 7"/>
          <p:cNvSpPr txBox="1"/>
          <p:nvPr/>
        </p:nvSpPr>
        <p:spPr>
          <a:xfrm>
            <a:off x="1463040" y="3364992"/>
            <a:ext cx="4206240" cy="914400"/>
          </a:xfrm>
          <a:prstGeom prst="rect">
            <a:avLst/>
          </a:prstGeom>
          <a:noFill/>
        </p:spPr>
        <p:txBody>
          <a:bodyPr wrap="square" lIns="0" rIns="0" tIns="0" bIns="0" anchor="t">
            <a:spAutoFit/>
          </a:bodyPr>
          <a:lstStyle/>
          <a:p>
            <a:pPr algn="l"/>
            <a:r>
              <a:rPr sz="1700" b="0">
                <a:solidFill>
                  <a:schemeClr val="tx1"/>
                </a:solidFill>
              </a:rPr>
              <a:t>Za f = 0; 0,1; 0,5 i k = 1, 2, 4, 8, 16 izmjerite T i izračunajte S = T(1) / T(k).</a:t>
            </a:r>
          </a:p>
        </p:txBody>
      </p:sp>
      <p:sp>
        <p:nvSpPr>
          <p:cNvPr id="9" name="Step 3"/>
          <p:cNvSpPr/>
          <p:nvPr/>
        </p:nvSpPr>
        <p:spPr>
          <a:xfrm>
            <a:off x="841248" y="429768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3</a:t>
            </a:r>
          </a:p>
        </p:txBody>
      </p:sp>
      <p:sp>
        <p:nvSpPr>
          <p:cNvPr id="10" name="TextBox 9"/>
          <p:cNvSpPr txBox="1"/>
          <p:nvPr/>
        </p:nvSpPr>
        <p:spPr>
          <a:xfrm>
            <a:off x="1463040" y="4279392"/>
            <a:ext cx="4206240" cy="914400"/>
          </a:xfrm>
          <a:prstGeom prst="rect">
            <a:avLst/>
          </a:prstGeom>
          <a:noFill/>
        </p:spPr>
        <p:txBody>
          <a:bodyPr wrap="square" lIns="0" rIns="0" tIns="0" bIns="0" anchor="t">
            <a:spAutoFit/>
          </a:bodyPr>
          <a:lstStyle/>
          <a:p>
            <a:pPr algn="l"/>
            <a:r>
              <a:rPr sz="1700" b="0">
                <a:solidFill>
                  <a:schemeClr val="tx1"/>
                </a:solidFill>
              </a:rPr>
              <a:t>Ispišite Amdahlovo predviđanje i Karp–Flattov e.</a:t>
            </a:r>
          </a:p>
        </p:txBody>
      </p:sp>
      <p:sp>
        <p:nvSpPr>
          <p:cNvPr id="11" name="Step 4"/>
          <p:cNvSpPr/>
          <p:nvPr/>
        </p:nvSpPr>
        <p:spPr>
          <a:xfrm>
            <a:off x="841248" y="521208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4</a:t>
            </a:r>
          </a:p>
        </p:txBody>
      </p:sp>
      <p:sp>
        <p:nvSpPr>
          <p:cNvPr id="12" name="TextBox 11"/>
          <p:cNvSpPr txBox="1"/>
          <p:nvPr/>
        </p:nvSpPr>
        <p:spPr>
          <a:xfrm>
            <a:off x="1463040" y="5193792"/>
            <a:ext cx="4206240" cy="914400"/>
          </a:xfrm>
          <a:prstGeom prst="rect">
            <a:avLst/>
          </a:prstGeom>
          <a:noFill/>
        </p:spPr>
        <p:txBody>
          <a:bodyPr wrap="square" lIns="0" rIns="0" tIns="0" bIns="0" anchor="t">
            <a:spAutoFit/>
          </a:bodyPr>
          <a:lstStyle/>
          <a:p>
            <a:pPr algn="l"/>
            <a:r>
              <a:rPr sz="1700" b="0">
                <a:solidFill>
                  <a:schemeClr val="tx1"/>
                </a:solidFill>
              </a:rPr>
              <a:t>Ostaje li e blizu f kad k raste? Gdje je razlika najveća i zašto?</a:t>
            </a:r>
          </a:p>
        </p:txBody>
      </p:sp>
      <p:sp>
        <p:nvSpPr>
          <p:cNvPr id="13" name="TextBox 12"/>
          <p:cNvSpPr txBox="1"/>
          <p:nvPr/>
        </p:nvSpPr>
        <p:spPr>
          <a:xfrm>
            <a:off x="5897880" y="1965960"/>
            <a:ext cx="5532120" cy="365760"/>
          </a:xfrm>
          <a:prstGeom prst="rect">
            <a:avLst/>
          </a:prstGeom>
          <a:noFill/>
        </p:spPr>
        <p:txBody>
          <a:bodyPr wrap="square" lIns="0" rIns="0" tIns="0" bIns="0" anchor="t">
            <a:spAutoFit/>
          </a:bodyPr>
          <a:lstStyle/>
          <a:p>
            <a:pPr algn="l"/>
            <a:r>
              <a:rPr sz="1800" b="1">
                <a:solidFill>
                  <a:schemeClr val="accent3"/>
                </a:solidFill>
              </a:rPr>
              <a:t>Primjer ispisa</a:t>
            </a:r>
          </a:p>
        </p:txBody>
      </p:sp>
      <p:sp>
        <p:nvSpPr>
          <p:cNvPr id="14" name="Code output"/>
          <p:cNvSpPr/>
          <p:nvPr/>
        </p:nvSpPr>
        <p:spPr>
          <a:xfrm>
            <a:off x="5897880" y="2468880"/>
            <a:ext cx="5532120" cy="2139696"/>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300" b="0">
                <a:solidFill>
                  <a:schemeClr val="bg1"/>
                </a:solidFill>
                <a:latin typeface="Consolas"/>
              </a:rPr>
              <a:t>f = 0,1</a:t>
            </a:r>
          </a:p>
          <a:p>
            <a:pPr algn="l"/>
            <a:r>
              <a:rPr sz="1300" b="0">
                <a:solidFill>
                  <a:schemeClr val="bg1"/>
                </a:solidFill>
                <a:latin typeface="Consolas"/>
              </a:rPr>
              <a:t>k     vrijeme      S   Amdahl      e   zbroj</a:t>
            </a:r>
          </a:p>
          <a:p>
            <a:pPr algn="l"/>
            <a:r>
              <a:rPr sz="1300" b="0">
                <a:solidFill>
                  <a:schemeClr val="bg1"/>
                </a:solidFill>
                <a:latin typeface="Consolas"/>
              </a:rPr>
              <a:t>1      533 ms   1,00     1,00      –   ispravan</a:t>
            </a:r>
          </a:p>
          <a:p>
            <a:pPr algn="l"/>
            <a:r>
              <a:rPr sz="1300" b="0">
                <a:solidFill>
                  <a:schemeClr val="bg1"/>
                </a:solidFill>
                <a:latin typeface="Consolas"/>
              </a:rPr>
              <a:t>2      299 ms   1,78     1,82  0,122   ispravan</a:t>
            </a:r>
          </a:p>
          <a:p>
            <a:pPr algn="l"/>
            <a:r>
              <a:rPr sz="1300" b="0">
                <a:solidFill>
                  <a:schemeClr val="bg1"/>
                </a:solidFill>
                <a:latin typeface="Consolas"/>
              </a:rPr>
              <a:t>4      185 ms   2,88     3,08  0,129   ispravan</a:t>
            </a:r>
          </a:p>
          <a:p>
            <a:pPr algn="l"/>
            <a:r>
              <a:rPr sz="1300" b="0">
                <a:solidFill>
                  <a:schemeClr val="bg1"/>
                </a:solidFill>
                <a:latin typeface="Consolas"/>
              </a:rPr>
              <a:t>8      155 ms   3,44     4,71  0,189   ispravan</a:t>
            </a:r>
          </a:p>
          <a:p>
            <a:pPr algn="l"/>
            <a:r>
              <a:rPr sz="1300" b="0">
                <a:solidFill>
                  <a:schemeClr val="bg1"/>
                </a:solidFill>
                <a:latin typeface="Consolas"/>
              </a:rPr>
              <a:t>16     170 ms   3,14     6,40  0,274   ispravan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Zadatak 2: loša podjela posla</a:t>
            </a:r>
          </a:p>
        </p:txBody>
      </p:sp>
      <p:sp>
        <p:nvSpPr>
          <p:cNvPr id="3" name="TextBox 2"/>
          <p:cNvSpPr txBox="1"/>
          <p:nvPr/>
        </p:nvSpPr>
        <p:spPr>
          <a:xfrm>
            <a:off x="841248" y="1371600"/>
            <a:ext cx="10607040" cy="457200"/>
          </a:xfrm>
          <a:prstGeom prst="rect">
            <a:avLst/>
          </a:prstGeom>
          <a:noFill/>
        </p:spPr>
        <p:txBody>
          <a:bodyPr wrap="square" lIns="0" rIns="0" tIns="0" bIns="0" anchor="t">
            <a:spAutoFit/>
          </a:bodyPr>
          <a:lstStyle/>
          <a:p>
            <a:pPr algn="l"/>
            <a:r>
              <a:rPr sz="1700" b="0">
                <a:solidFill>
                  <a:schemeClr val="tx2"/>
                </a:solidFill>
              </a:rPr>
              <a:t>Zadano: brojanje prostih brojeva do 5·10⁶; provjera traje dulje što je broj veći. K = 4.</a:t>
            </a:r>
          </a:p>
        </p:txBody>
      </p:sp>
      <p:sp>
        <p:nvSpPr>
          <p:cNvPr id="4" name="TextBox 3"/>
          <p:cNvSpPr txBox="1"/>
          <p:nvPr/>
        </p:nvSpPr>
        <p:spPr>
          <a:xfrm>
            <a:off x="841248" y="1965960"/>
            <a:ext cx="6035040" cy="365760"/>
          </a:xfrm>
          <a:prstGeom prst="rect">
            <a:avLst/>
          </a:prstGeom>
          <a:noFill/>
        </p:spPr>
        <p:txBody>
          <a:bodyPr wrap="square" lIns="0" rIns="0" tIns="0" bIns="0" anchor="t">
            <a:spAutoFit/>
          </a:bodyPr>
          <a:lstStyle/>
          <a:p>
            <a:pPr algn="l"/>
            <a:r>
              <a:rPr sz="1800" b="1">
                <a:solidFill>
                  <a:schemeClr val="accent1"/>
                </a:solidFill>
              </a:rPr>
              <a:t>Što trebate napraviti</a:t>
            </a:r>
          </a:p>
        </p:txBody>
      </p:sp>
      <p:sp>
        <p:nvSpPr>
          <p:cNvPr id="5" name="Step 1"/>
          <p:cNvSpPr/>
          <p:nvPr/>
        </p:nvSpPr>
        <p:spPr>
          <a:xfrm>
            <a:off x="841248" y="246888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1</a:t>
            </a:r>
          </a:p>
        </p:txBody>
      </p:sp>
      <p:sp>
        <p:nvSpPr>
          <p:cNvPr id="6" name="TextBox 5"/>
          <p:cNvSpPr txBox="1"/>
          <p:nvPr/>
        </p:nvSpPr>
        <p:spPr>
          <a:xfrm>
            <a:off x="1463040" y="2450592"/>
            <a:ext cx="9966960" cy="777240"/>
          </a:xfrm>
          <a:prstGeom prst="rect">
            <a:avLst/>
          </a:prstGeom>
          <a:noFill/>
        </p:spPr>
        <p:txBody>
          <a:bodyPr wrap="square" lIns="0" rIns="0" tIns="0" bIns="0" anchor="t">
            <a:spAutoFit/>
          </a:bodyPr>
          <a:lstStyle/>
          <a:p>
            <a:pPr algn="l"/>
            <a:r>
              <a:rPr sz="1700" b="0">
                <a:solidFill>
                  <a:schemeClr val="tx1"/>
                </a:solidFill>
              </a:rPr>
              <a:t>Podijelite raspon na K jednakih dijelova, svaki u svom tasku.</a:t>
            </a:r>
          </a:p>
        </p:txBody>
      </p:sp>
      <p:sp>
        <p:nvSpPr>
          <p:cNvPr id="7" name="Step 2"/>
          <p:cNvSpPr/>
          <p:nvPr/>
        </p:nvSpPr>
        <p:spPr>
          <a:xfrm>
            <a:off x="841248" y="324612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2</a:t>
            </a:r>
          </a:p>
        </p:txBody>
      </p:sp>
      <p:sp>
        <p:nvSpPr>
          <p:cNvPr id="8" name="TextBox 7"/>
          <p:cNvSpPr txBox="1"/>
          <p:nvPr/>
        </p:nvSpPr>
        <p:spPr>
          <a:xfrm>
            <a:off x="1463040" y="3227832"/>
            <a:ext cx="9966960" cy="777240"/>
          </a:xfrm>
          <a:prstGeom prst="rect">
            <a:avLst/>
          </a:prstGeom>
          <a:noFill/>
        </p:spPr>
        <p:txBody>
          <a:bodyPr wrap="square" lIns="0" rIns="0" tIns="0" bIns="0" anchor="t">
            <a:spAutoFit/>
          </a:bodyPr>
          <a:lstStyle/>
          <a:p>
            <a:pPr algn="l"/>
            <a:r>
              <a:rPr sz="1700" b="0">
                <a:solidFill>
                  <a:schemeClr val="tx1"/>
                </a:solidFill>
              </a:rPr>
              <a:t>Izmjerite i ispišite koliko je radio svaki task. Zašto se vremena razlikuju?</a:t>
            </a:r>
          </a:p>
        </p:txBody>
      </p:sp>
      <p:sp>
        <p:nvSpPr>
          <p:cNvPr id="9" name="Step 3"/>
          <p:cNvSpPr/>
          <p:nvPr/>
        </p:nvSpPr>
        <p:spPr>
          <a:xfrm>
            <a:off x="841248" y="402336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3</a:t>
            </a:r>
          </a:p>
        </p:txBody>
      </p:sp>
      <p:sp>
        <p:nvSpPr>
          <p:cNvPr id="10" name="TextBox 9"/>
          <p:cNvSpPr txBox="1"/>
          <p:nvPr/>
        </p:nvSpPr>
        <p:spPr>
          <a:xfrm>
            <a:off x="1463040" y="4005072"/>
            <a:ext cx="9966960" cy="777240"/>
          </a:xfrm>
          <a:prstGeom prst="rect">
            <a:avLst/>
          </a:prstGeom>
          <a:noFill/>
        </p:spPr>
        <p:txBody>
          <a:bodyPr wrap="square" lIns="0" rIns="0" tIns="0" bIns="0" anchor="t">
            <a:spAutoFit/>
          </a:bodyPr>
          <a:lstStyle/>
          <a:p>
            <a:pPr algn="l"/>
            <a:r>
              <a:rPr sz="1700" b="0">
                <a:solidFill>
                  <a:schemeClr val="tx1"/>
                </a:solidFill>
              </a:rPr>
              <a:t>Popravite podjelu tako da svi rade približno jednako dugo, na najviše K niti. Usporedite ukupno vrijeme.</a:t>
            </a:r>
          </a:p>
        </p:txBody>
      </p:sp>
      <p:sp>
        <p:nvSpPr>
          <p:cNvPr id="11" name="TextBox 10"/>
          <p:cNvSpPr txBox="1"/>
          <p:nvPr/>
        </p:nvSpPr>
        <p:spPr>
          <a:xfrm>
            <a:off x="841248" y="4983480"/>
            <a:ext cx="6035040" cy="365760"/>
          </a:xfrm>
          <a:prstGeom prst="rect">
            <a:avLst/>
          </a:prstGeom>
          <a:noFill/>
        </p:spPr>
        <p:txBody>
          <a:bodyPr wrap="square" lIns="0" rIns="0" tIns="0" bIns="0" anchor="t">
            <a:spAutoFit/>
          </a:bodyPr>
          <a:lstStyle/>
          <a:p>
            <a:pPr algn="l"/>
            <a:r>
              <a:rPr sz="1800" b="1">
                <a:solidFill>
                  <a:schemeClr val="accent3"/>
                </a:solidFill>
              </a:rPr>
              <a:t>Primjer ispisa</a:t>
            </a:r>
          </a:p>
        </p:txBody>
      </p:sp>
      <p:sp>
        <p:nvSpPr>
          <p:cNvPr id="12" name="Code output"/>
          <p:cNvSpPr/>
          <p:nvPr/>
        </p:nvSpPr>
        <p:spPr>
          <a:xfrm>
            <a:off x="841248" y="5440680"/>
            <a:ext cx="10607040" cy="1234439"/>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500" b="0">
                <a:solidFill>
                  <a:schemeClr val="bg1"/>
                </a:solidFill>
                <a:latin typeface="Consolas"/>
              </a:rPr>
              <a:t>Slijedno:                348513  (1528 ms)</a:t>
            </a:r>
          </a:p>
          <a:p>
            <a:pPr algn="l"/>
            <a:r>
              <a:rPr sz="1500" b="0">
                <a:solidFill>
                  <a:schemeClr val="bg1"/>
                </a:solidFill>
                <a:latin typeface="Consolas"/>
              </a:rPr>
              <a:t>Jednaki rasponi, K = 4:  348513  (535 ms)</a:t>
            </a:r>
          </a:p>
          <a:p>
            <a:pPr algn="l"/>
            <a:r>
              <a:rPr sz="1500" b="0">
                <a:solidFill>
                  <a:schemeClr val="bg1"/>
                </a:solidFill>
                <a:latin typeface="Consolas"/>
              </a:rPr>
              <a:t>    taskovi (ms): 241 382 466 535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Zadatak 3: premali zadaci</a:t>
            </a:r>
          </a:p>
        </p:txBody>
      </p:sp>
      <p:sp>
        <p:nvSpPr>
          <p:cNvPr id="3" name="TextBox 2"/>
          <p:cNvSpPr txBox="1"/>
          <p:nvPr/>
        </p:nvSpPr>
        <p:spPr>
          <a:xfrm>
            <a:off x="841248" y="1371600"/>
            <a:ext cx="10607040" cy="457200"/>
          </a:xfrm>
          <a:prstGeom prst="rect">
            <a:avLst/>
          </a:prstGeom>
          <a:noFill/>
        </p:spPr>
        <p:txBody>
          <a:bodyPr wrap="square" lIns="0" rIns="0" tIns="0" bIns="0" anchor="t">
            <a:spAutoFit/>
          </a:bodyPr>
          <a:lstStyle/>
          <a:p>
            <a:pPr algn="l"/>
            <a:r>
              <a:rPr sz="1700" b="0">
                <a:solidFill>
                  <a:schemeClr val="tx2"/>
                </a:solidFill>
              </a:rPr>
              <a:t>Zadano: polje od 10⁶ brojeva i funkcija F koja po elementu traje nekoliko nanosekundi; 20 prolaza.</a:t>
            </a:r>
          </a:p>
        </p:txBody>
      </p:sp>
      <p:sp>
        <p:nvSpPr>
          <p:cNvPr id="4" name="TextBox 3"/>
          <p:cNvSpPr txBox="1"/>
          <p:nvPr/>
        </p:nvSpPr>
        <p:spPr>
          <a:xfrm>
            <a:off x="841248" y="1965960"/>
            <a:ext cx="6035040" cy="365760"/>
          </a:xfrm>
          <a:prstGeom prst="rect">
            <a:avLst/>
          </a:prstGeom>
          <a:noFill/>
        </p:spPr>
        <p:txBody>
          <a:bodyPr wrap="square" lIns="0" rIns="0" tIns="0" bIns="0" anchor="t">
            <a:spAutoFit/>
          </a:bodyPr>
          <a:lstStyle/>
          <a:p>
            <a:pPr algn="l"/>
            <a:r>
              <a:rPr sz="1800" b="1">
                <a:solidFill>
                  <a:schemeClr val="accent1"/>
                </a:solidFill>
              </a:rPr>
              <a:t>Što trebate napraviti</a:t>
            </a:r>
          </a:p>
        </p:txBody>
      </p:sp>
      <p:sp>
        <p:nvSpPr>
          <p:cNvPr id="5" name="Step 1"/>
          <p:cNvSpPr/>
          <p:nvPr/>
        </p:nvSpPr>
        <p:spPr>
          <a:xfrm>
            <a:off x="841248" y="246888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1</a:t>
            </a:r>
          </a:p>
        </p:txBody>
      </p:sp>
      <p:sp>
        <p:nvSpPr>
          <p:cNvPr id="6" name="TextBox 5"/>
          <p:cNvSpPr txBox="1"/>
          <p:nvPr/>
        </p:nvSpPr>
        <p:spPr>
          <a:xfrm>
            <a:off x="1463040" y="2450592"/>
            <a:ext cx="4206240" cy="1188720"/>
          </a:xfrm>
          <a:prstGeom prst="rect">
            <a:avLst/>
          </a:prstGeom>
          <a:noFill/>
        </p:spPr>
        <p:txBody>
          <a:bodyPr wrap="square" lIns="0" rIns="0" tIns="0" bIns="0" anchor="t">
            <a:spAutoFit/>
          </a:bodyPr>
          <a:lstStyle/>
          <a:p>
            <a:pPr algn="l"/>
            <a:r>
              <a:rPr sz="1700" b="0">
                <a:solidFill>
                  <a:schemeClr val="tx1"/>
                </a:solidFill>
              </a:rPr>
              <a:t>Parallel.For u kojem je svaki element jedna iteracija: izmjerite S.</a:t>
            </a:r>
          </a:p>
        </p:txBody>
      </p:sp>
      <p:sp>
        <p:nvSpPr>
          <p:cNvPr id="7" name="Step 2"/>
          <p:cNvSpPr/>
          <p:nvPr/>
        </p:nvSpPr>
        <p:spPr>
          <a:xfrm>
            <a:off x="841248" y="365760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2</a:t>
            </a:r>
          </a:p>
        </p:txBody>
      </p:sp>
      <p:sp>
        <p:nvSpPr>
          <p:cNvPr id="8" name="TextBox 7"/>
          <p:cNvSpPr txBox="1"/>
          <p:nvPr/>
        </p:nvSpPr>
        <p:spPr>
          <a:xfrm>
            <a:off x="1463040" y="3639312"/>
            <a:ext cx="4206240" cy="1188720"/>
          </a:xfrm>
          <a:prstGeom prst="rect">
            <a:avLst/>
          </a:prstGeom>
          <a:noFill/>
        </p:spPr>
        <p:txBody>
          <a:bodyPr wrap="square" lIns="0" rIns="0" tIns="0" bIns="0" anchor="t">
            <a:spAutoFit/>
          </a:bodyPr>
          <a:lstStyle/>
          <a:p>
            <a:pPr algn="l"/>
            <a:r>
              <a:rPr sz="1700" b="0">
                <a:solidFill>
                  <a:schemeClr val="tx1"/>
                </a:solidFill>
              </a:rPr>
              <a:t>Rasponi: Parallel.ForEach(Partitioner.Create(0, N), r =&gt; …) i obična petlja unutar raspona.</a:t>
            </a:r>
          </a:p>
        </p:txBody>
      </p:sp>
      <p:sp>
        <p:nvSpPr>
          <p:cNvPr id="9" name="Step 3"/>
          <p:cNvSpPr/>
          <p:nvPr/>
        </p:nvSpPr>
        <p:spPr>
          <a:xfrm>
            <a:off x="841248" y="484632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3</a:t>
            </a:r>
          </a:p>
        </p:txBody>
      </p:sp>
      <p:sp>
        <p:nvSpPr>
          <p:cNvPr id="10" name="TextBox 9"/>
          <p:cNvSpPr txBox="1"/>
          <p:nvPr/>
        </p:nvSpPr>
        <p:spPr>
          <a:xfrm>
            <a:off x="1463040" y="4828032"/>
            <a:ext cx="4206240" cy="1188720"/>
          </a:xfrm>
          <a:prstGeom prst="rect">
            <a:avLst/>
          </a:prstGeom>
          <a:noFill/>
        </p:spPr>
        <p:txBody>
          <a:bodyPr wrap="square" lIns="0" rIns="0" tIns="0" bIns="0" anchor="t">
            <a:spAutoFit/>
          </a:bodyPr>
          <a:lstStyle/>
          <a:p>
            <a:pPr algn="l"/>
            <a:r>
              <a:rPr sz="1700" b="0">
                <a:solidFill>
                  <a:schemeClr val="tx1"/>
                </a:solidFill>
              </a:rPr>
              <a:t>Veličine raspona 10, 100, 1000, 10 000, 100 000, 500 000: koja je najbolja i zašto?</a:t>
            </a:r>
          </a:p>
        </p:txBody>
      </p:sp>
      <p:sp>
        <p:nvSpPr>
          <p:cNvPr id="11" name="TextBox 10"/>
          <p:cNvSpPr txBox="1"/>
          <p:nvPr/>
        </p:nvSpPr>
        <p:spPr>
          <a:xfrm>
            <a:off x="5897880" y="1965960"/>
            <a:ext cx="5532120" cy="365760"/>
          </a:xfrm>
          <a:prstGeom prst="rect">
            <a:avLst/>
          </a:prstGeom>
          <a:noFill/>
        </p:spPr>
        <p:txBody>
          <a:bodyPr wrap="square" lIns="0" rIns="0" tIns="0" bIns="0" anchor="t">
            <a:spAutoFit/>
          </a:bodyPr>
          <a:lstStyle/>
          <a:p>
            <a:pPr algn="l"/>
            <a:r>
              <a:rPr sz="1800" b="1">
                <a:solidFill>
                  <a:schemeClr val="accent3"/>
                </a:solidFill>
              </a:rPr>
              <a:t>Primjer ispisa</a:t>
            </a:r>
          </a:p>
        </p:txBody>
      </p:sp>
      <p:sp>
        <p:nvSpPr>
          <p:cNvPr id="12" name="Code output"/>
          <p:cNvSpPr/>
          <p:nvPr/>
        </p:nvSpPr>
        <p:spPr>
          <a:xfrm>
            <a:off x="5897880" y="2468880"/>
            <a:ext cx="5532120" cy="2633472"/>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300" b="0">
                <a:solidFill>
                  <a:schemeClr val="bg1"/>
                </a:solidFill>
                <a:latin typeface="Consolas"/>
              </a:rPr>
              <a:t>Slijedno:                       43,3 ms</a:t>
            </a:r>
          </a:p>
          <a:p>
            <a:pPr algn="l"/>
            <a:r>
              <a:rPr sz="1300" b="0">
                <a:solidFill>
                  <a:schemeClr val="bg1"/>
                </a:solidFill>
                <a:latin typeface="Consolas"/>
              </a:rPr>
              <a:t>Parallel.For po elementu:       19,2 ms   S = 2,25</a:t>
            </a:r>
          </a:p>
          <a:p>
            <a:pPr algn="l"/>
            <a:r>
              <a:rPr sz="1300" b="0">
                <a:solidFill>
                  <a:schemeClr val="bg1"/>
                </a:solidFill>
                <a:latin typeface="Consolas"/>
              </a:rPr>
              <a:t>Parallel.ForEach, rasponi:       6,7 ms   S = 6,49</a:t>
            </a:r>
          </a:p>
          <a:p>
            <a:pPr algn="l"/>
            <a:r>
              <a:rPr sz="1300" b="0">
                <a:solidFill>
                  <a:schemeClr val="bg1"/>
                </a:solidFill>
                <a:latin typeface="Consolas"/>
              </a:rPr>
              <a:t/>
            </a:r>
          </a:p>
          <a:p>
            <a:pPr algn="l"/>
            <a:r>
              <a:rPr sz="1300" b="0">
                <a:solidFill>
                  <a:schemeClr val="bg1"/>
                </a:solidFill>
                <a:latin typeface="Consolas"/>
              </a:rPr>
              <a:t>veličina raspona   vrijeme      S</a:t>
            </a:r>
          </a:p>
          <a:p>
            <a:pPr algn="l"/>
            <a:r>
              <a:rPr sz="1300" b="0">
                <a:solidFill>
                  <a:schemeClr val="bg1"/>
                </a:solidFill>
                <a:latin typeface="Consolas"/>
              </a:rPr>
              <a:t>              10    502,1 ms   0,09</a:t>
            </a:r>
          </a:p>
          <a:p>
            <a:pPr algn="l"/>
            <a:r>
              <a:rPr sz="1300" b="0">
                <a:solidFill>
                  <a:schemeClr val="bg1"/>
                </a:solidFill>
                <a:latin typeface="Consolas"/>
              </a:rPr>
              <a:t>             100     50,6 ms   0,85</a:t>
            </a:r>
          </a:p>
          <a:p>
            <a:pPr algn="l"/>
            <a:r>
              <a:rPr sz="1300" b="0">
                <a:solidFill>
                  <a:schemeClr val="bg1"/>
                </a:solidFill>
                <a:latin typeface="Consolas"/>
              </a:rPr>
              <a:t>               …</a:t>
            </a:r>
          </a:p>
          <a:p>
            <a:pPr algn="l"/>
            <a:r>
              <a:rPr sz="1300" b="0">
                <a:solidFill>
                  <a:schemeClr val="bg1"/>
                </a:solidFill>
                <a:latin typeface="Consolas"/>
              </a:rPr>
              <a:t>          500000     23,6 ms   1,84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Zadatak 4: pet naredbi</a:t>
            </a:r>
          </a:p>
        </p:txBody>
      </p:sp>
      <p:sp>
        <p:nvSpPr>
          <p:cNvPr id="3" name="TextBox 2"/>
          <p:cNvSpPr txBox="1"/>
          <p:nvPr/>
        </p:nvSpPr>
        <p:spPr>
          <a:xfrm>
            <a:off x="841248" y="1371600"/>
            <a:ext cx="10607040" cy="457200"/>
          </a:xfrm>
          <a:prstGeom prst="rect">
            <a:avLst/>
          </a:prstGeom>
          <a:noFill/>
        </p:spPr>
        <p:txBody>
          <a:bodyPr wrap="square" lIns="0" rIns="0" tIns="0" bIns="0" anchor="t">
            <a:spAutoFit/>
          </a:bodyPr>
          <a:lstStyle/>
          <a:p>
            <a:pPr algn="l"/>
            <a:r>
              <a:rPr sz="1700" b="0">
                <a:solidFill>
                  <a:schemeClr val="tx2"/>
                </a:solidFill>
              </a:rPr>
              <a:t>Zadano: S1–S5 s predavanja kao metode S1_Ulaz, S2_P, S3_Q, S4_R, S5_Ispis (po 0,1 s).</a:t>
            </a:r>
          </a:p>
        </p:txBody>
      </p:sp>
      <p:sp>
        <p:nvSpPr>
          <p:cNvPr id="4" name="TextBox 3"/>
          <p:cNvSpPr txBox="1"/>
          <p:nvPr/>
        </p:nvSpPr>
        <p:spPr>
          <a:xfrm>
            <a:off x="841248" y="1965960"/>
            <a:ext cx="6035040" cy="365760"/>
          </a:xfrm>
          <a:prstGeom prst="rect">
            <a:avLst/>
          </a:prstGeom>
          <a:noFill/>
        </p:spPr>
        <p:txBody>
          <a:bodyPr wrap="square" lIns="0" rIns="0" tIns="0" bIns="0" anchor="t">
            <a:spAutoFit/>
          </a:bodyPr>
          <a:lstStyle/>
          <a:p>
            <a:pPr algn="l"/>
            <a:r>
              <a:rPr sz="1800" b="1">
                <a:solidFill>
                  <a:schemeClr val="accent1"/>
                </a:solidFill>
              </a:rPr>
              <a:t>Što trebate napraviti</a:t>
            </a:r>
          </a:p>
        </p:txBody>
      </p:sp>
      <p:sp>
        <p:nvSpPr>
          <p:cNvPr id="5" name="Step 1"/>
          <p:cNvSpPr/>
          <p:nvPr/>
        </p:nvSpPr>
        <p:spPr>
          <a:xfrm>
            <a:off x="841248" y="246888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1</a:t>
            </a:r>
          </a:p>
        </p:txBody>
      </p:sp>
      <p:sp>
        <p:nvSpPr>
          <p:cNvPr id="6" name="TextBox 5"/>
          <p:cNvSpPr txBox="1"/>
          <p:nvPr/>
        </p:nvSpPr>
        <p:spPr>
          <a:xfrm>
            <a:off x="1463040" y="2450592"/>
            <a:ext cx="9966960" cy="777240"/>
          </a:xfrm>
          <a:prstGeom prst="rect">
            <a:avLst/>
          </a:prstGeom>
          <a:noFill/>
        </p:spPr>
        <p:txBody>
          <a:bodyPr wrap="square" lIns="0" rIns="0" tIns="0" bIns="0" anchor="t">
            <a:spAutoFit/>
          </a:bodyPr>
          <a:lstStyle/>
          <a:p>
            <a:pPr algn="l"/>
            <a:r>
              <a:rPr sz="1700" b="0">
                <a:solidFill>
                  <a:schemeClr val="tx1"/>
                </a:solidFill>
              </a:rPr>
              <a:t>S2, S3 i S4 istodobno s Parallel.Invoke. Izmjerite S i usporedite s Amdahlom uz N = 3.</a:t>
            </a:r>
          </a:p>
        </p:txBody>
      </p:sp>
      <p:sp>
        <p:nvSpPr>
          <p:cNvPr id="7" name="Step 2"/>
          <p:cNvSpPr/>
          <p:nvPr/>
        </p:nvSpPr>
        <p:spPr>
          <a:xfrm>
            <a:off x="841248" y="324612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2</a:t>
            </a:r>
          </a:p>
        </p:txBody>
      </p:sp>
      <p:sp>
        <p:nvSpPr>
          <p:cNvPr id="8" name="TextBox 7"/>
          <p:cNvSpPr txBox="1"/>
          <p:nvPr/>
        </p:nvSpPr>
        <p:spPr>
          <a:xfrm>
            <a:off x="1463040" y="3227832"/>
            <a:ext cx="9966960" cy="777240"/>
          </a:xfrm>
          <a:prstGeom prst="rect">
            <a:avLst/>
          </a:prstGeom>
          <a:noFill/>
        </p:spPr>
        <p:txBody>
          <a:bodyPr wrap="square" lIns="0" rIns="0" tIns="0" bIns="0" anchor="t">
            <a:spAutoFit/>
          </a:bodyPr>
          <a:lstStyle/>
          <a:p>
            <a:pPr algn="l"/>
            <a:r>
              <a:rPr sz="1700" b="0">
                <a:solidFill>
                  <a:schemeClr val="tx1"/>
                </a:solidFill>
              </a:rPr>
              <a:t>q traje tri jedinice (S3_QTriJedinice). Prvo zapišite predviđanje Amdahla (N = 3) i grafa ovisnosti, zatim izmjerite.</a:t>
            </a:r>
          </a:p>
        </p:txBody>
      </p:sp>
      <p:sp>
        <p:nvSpPr>
          <p:cNvPr id="9" name="Step 3"/>
          <p:cNvSpPr/>
          <p:nvPr/>
        </p:nvSpPr>
        <p:spPr>
          <a:xfrm>
            <a:off x="841248" y="4023360"/>
            <a:ext cx="457200" cy="457200"/>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700" b="1">
                <a:solidFill>
                  <a:schemeClr val="tx1"/>
                </a:solidFill>
              </a:rPr>
              <a:t>3</a:t>
            </a:r>
          </a:p>
        </p:txBody>
      </p:sp>
      <p:sp>
        <p:nvSpPr>
          <p:cNvPr id="10" name="TextBox 9"/>
          <p:cNvSpPr txBox="1"/>
          <p:nvPr/>
        </p:nvSpPr>
        <p:spPr>
          <a:xfrm>
            <a:off x="1463040" y="4005072"/>
            <a:ext cx="9966960" cy="777240"/>
          </a:xfrm>
          <a:prstGeom prst="rect">
            <a:avLst/>
          </a:prstGeom>
          <a:noFill/>
        </p:spPr>
        <p:txBody>
          <a:bodyPr wrap="square" lIns="0" rIns="0" tIns="0" bIns="0" anchor="t">
            <a:spAutoFit/>
          </a:bodyPr>
          <a:lstStyle/>
          <a:p>
            <a:pPr algn="l"/>
            <a:r>
              <a:rPr sz="1700" b="0">
                <a:solidFill>
                  <a:schemeClr val="tx1"/>
                </a:solidFill>
              </a:rPr>
              <a:t>Najviše dvije niti (MaxDegreeOfParallelism = 2), kao da imamo dvije jezgre. Opet predvidite, pa izmjerite.</a:t>
            </a:r>
          </a:p>
        </p:txBody>
      </p:sp>
      <p:sp>
        <p:nvSpPr>
          <p:cNvPr id="11" name="TextBox 10"/>
          <p:cNvSpPr txBox="1"/>
          <p:nvPr/>
        </p:nvSpPr>
        <p:spPr>
          <a:xfrm>
            <a:off x="841248" y="4983480"/>
            <a:ext cx="6035040" cy="365760"/>
          </a:xfrm>
          <a:prstGeom prst="rect">
            <a:avLst/>
          </a:prstGeom>
          <a:noFill/>
        </p:spPr>
        <p:txBody>
          <a:bodyPr wrap="square" lIns="0" rIns="0" tIns="0" bIns="0" anchor="t">
            <a:spAutoFit/>
          </a:bodyPr>
          <a:lstStyle/>
          <a:p>
            <a:pPr algn="l"/>
            <a:r>
              <a:rPr sz="1800" b="1">
                <a:solidFill>
                  <a:schemeClr val="accent3"/>
                </a:solidFill>
              </a:rPr>
              <a:t>Primjer ispisa</a:t>
            </a:r>
          </a:p>
        </p:txBody>
      </p:sp>
      <p:sp>
        <p:nvSpPr>
          <p:cNvPr id="12" name="Code output"/>
          <p:cNvSpPr/>
          <p:nvPr/>
        </p:nvSpPr>
        <p:spPr>
          <a:xfrm>
            <a:off x="841248" y="5440680"/>
            <a:ext cx="10607040" cy="9601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500" b="0">
                <a:solidFill>
                  <a:schemeClr val="bg1"/>
                </a:solidFill>
                <a:latin typeface="Consolas"/>
              </a:rPr>
              <a:t>Korak 1: p, q, r po 1 jedinicu, 3 niti</a:t>
            </a:r>
          </a:p>
          <a:p>
            <a:pPr algn="l"/>
            <a:r>
              <a:rPr sz="1500" b="0">
                <a:solidFill>
                  <a:schemeClr val="bg1"/>
                </a:solidFill>
                <a:latin typeface="Consolas"/>
              </a:rPr>
              <a:t>  slijedno 555 ms, paralelno 345 ms, S = 1,61 (Amdahl: 1,67)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365126"/>
            <a:ext cx="10515600" cy="971306"/>
          </a:xfrm>
        </p:spPr>
        <p:txBody>
          <a:bodyPr/>
          <a:lstStyle/>
          <a:p>
            <a:r>
              <a:t>Reference</a:t>
            </a:r>
          </a:p>
        </p:txBody>
      </p:sp>
      <p:sp>
        <p:nvSpPr>
          <p:cNvPr id="3" name="TextBox 2"/>
          <p:cNvSpPr txBox="1"/>
          <p:nvPr/>
        </p:nvSpPr>
        <p:spPr>
          <a:xfrm>
            <a:off x="841248" y="1554480"/>
            <a:ext cx="10607040" cy="4114800"/>
          </a:xfrm>
          <a:prstGeom prst="rect">
            <a:avLst/>
          </a:prstGeom>
          <a:noFill/>
        </p:spPr>
        <p:txBody>
          <a:bodyPr wrap="square" lIns="0" rIns="0" tIns="0" bIns="0" anchor="t">
            <a:spAutoFit/>
          </a:bodyPr>
          <a:lstStyle/>
          <a:p>
            <a:pPr algn="l">
              <a:spcAft>
                <a:spcPts val="1000"/>
              </a:spcAft>
            </a:pPr>
            <a:r>
              <a:rPr sz="1400" b="0">
                <a:solidFill>
                  <a:schemeClr val="tx1"/>
                </a:solidFill>
              </a:rPr>
              <a:t>[1] Microsoft Learn: Parallel.Invoke — learn.microsoft.com/en-us/dotnet/api/system.threading.tasks.parallel.invoke</a:t>
            </a:r>
          </a:p>
          <a:p>
            <a:pPr algn="l">
              <a:spcAft>
                <a:spcPts val="1000"/>
              </a:spcAft>
            </a:pPr>
            <a:r>
              <a:rPr sz="1400" b="0">
                <a:solidFill>
                  <a:schemeClr val="tx1"/>
                </a:solidFill>
              </a:rPr>
              <a:t>[2] Microsoft Learn: ParallelOptions.MaxDegreeOfParallelism — learn.microsoft.com/en-us/dotnet/api/system.threading.tasks.paralleloptions.maxdegreeofparallelism</a:t>
            </a:r>
          </a:p>
          <a:p>
            <a:pPr algn="l">
              <a:spcAft>
                <a:spcPts val="1000"/>
              </a:spcAft>
            </a:pPr>
            <a:r>
              <a:rPr sz="1400" b="0">
                <a:solidFill>
                  <a:schemeClr val="tx1"/>
                </a:solidFill>
              </a:rPr>
              <a:t>[3] Microsoft Learn: Partitioner.Create — learn.microsoft.com/en-us/dotnet/api/system.collections.concurrent.partitioner.create</a:t>
            </a:r>
          </a:p>
          <a:p>
            <a:pPr algn="l">
              <a:spcAft>
                <a:spcPts val="1000"/>
              </a:spcAft>
            </a:pPr>
            <a:r>
              <a:rPr sz="1400" b="0">
                <a:solidFill>
                  <a:schemeClr val="tx1"/>
                </a:solidFill>
              </a:rPr>
              <a:t>[4] Microsoft Learn: How to: Speed Up Small Loop Bodies — learn.microsoft.com/en-us/dotnet/standard/parallel-programming/how-to-speed-up-small-loop-bodies</a:t>
            </a:r>
          </a:p>
          <a:p>
            <a:pPr algn="l">
              <a:spcAft>
                <a:spcPts val="1000"/>
              </a:spcAft>
            </a:pPr>
            <a:r>
              <a:rPr sz="1400" b="0">
                <a:solidFill>
                  <a:schemeClr val="tx1"/>
                </a:solidFill>
              </a:rPr>
              <a:t>[5] Microsoft Learn: Compilation config settings (TieredCompilation) — learn.microsoft.com/en-us/dotnet/core/runtime-config/compilation</a:t>
            </a:r>
          </a:p>
          <a:p>
            <a:pPr algn="l">
              <a:spcAft>
                <a:spcPts val="1000"/>
              </a:spcAft>
            </a:pPr>
            <a:r>
              <a:rPr sz="1400" b="0">
                <a:solidFill>
                  <a:schemeClr val="tx1"/>
                </a:solidFill>
              </a:rPr>
              <a:t>[6] A. H. Karp, H. P. Flatt: Measuring parallel processor performance. Communications of the ACM 33(5), 1990., 539–543.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707</TotalTime>
  <Words>1349</Words>
  <Application>Microsoft Office PowerPoint</Application>
  <PresentationFormat>Widescreen</PresentationFormat>
  <Paragraphs>135</Paragraphs>
  <Slides>33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33</vt:i4>
      </vt:variant>
    </vt:vector>
  </HeadingPairs>
  <TitlesOfParts>
    <vt:vector size="39" baseType="lpstr">
      <vt:lpstr>Aptos</vt:lpstr>
      <vt:lpstr>Aptos Display</vt:lpstr>
      <vt:lpstr>Arial</vt:lpstr>
      <vt:lpstr>Open Sans</vt:lpstr>
      <vt:lpstr>Office Theme</vt:lpstr>
      <vt:lpstr>Custom Design</vt:lpstr>
      <vt:lpstr>Paralelno programiranje</vt:lpstr>
      <vt:lpstr>1. Paralelno izvršavanje programa</vt:lpstr>
      <vt:lpstr>Ubrzanje izračuna</vt:lpstr>
      <vt:lpstr>Paralelizam na razini strojnih instrukcija</vt:lpstr>
      <vt:lpstr>Oblici paralelizma</vt:lpstr>
      <vt:lpstr>Računalne arhitekture</vt:lpstr>
      <vt:lpstr>PowerPoint Presentation</vt:lpstr>
      <vt:lpstr>PowerPoint Presentation</vt:lpstr>
      <vt:lpstr>Sekvencijalni program</vt:lpstr>
      <vt:lpstr>Paralelni program</vt:lpstr>
      <vt:lpstr>Paralelni problem</vt:lpstr>
      <vt:lpstr>Tko koristi paralelno računanje?</vt:lpstr>
      <vt:lpstr>PowerPoint Presentation</vt:lpstr>
      <vt:lpstr>Tko koristi paralelno računanje?</vt:lpstr>
      <vt:lpstr>PowerPoint Presentation</vt:lpstr>
      <vt:lpstr>PowerPoint Presentation</vt:lpstr>
      <vt:lpstr>Obrada signala </vt:lpstr>
      <vt:lpstr>Modeliranje klime </vt:lpstr>
      <vt:lpstr>Modeliranje klime </vt:lpstr>
      <vt:lpstr>Veliki jezični model (engl. LLM) </vt:lpstr>
      <vt:lpstr>Autonomna vozila </vt:lpstr>
      <vt:lpstr>Autonomna vozila </vt:lpstr>
      <vt:lpstr>Autonomna vozila </vt:lpstr>
      <vt:lpstr>Zašto koristiti paralelno računanje? </vt:lpstr>
      <vt:lpstr>PowerPoint Presentation</vt:lpstr>
      <vt:lpstr>Dizajniranje paralelnih programa Automatska naspram ručne paralelizacije</vt:lpstr>
      <vt:lpstr>Dizajniranje paralelnih programa Potpuno automatski</vt:lpstr>
      <vt:lpstr>Dizajniranje paralelnih programa Programer</vt:lpstr>
      <vt:lpstr>Paralelna računala</vt:lpstr>
      <vt:lpstr>2. Flinnova klasična taksonomija</vt:lpstr>
      <vt:lpstr>Multiple Instruction, Multiple Data (MIMD)</vt:lpstr>
      <vt:lpstr>3. Amdahlov zakon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Tonći</dc:creator>
  <cp:lastModifiedBy>Tonći</cp:lastModifiedBy>
  <cp:revision>68</cp:revision>
  <dcterms:created xsi:type="dcterms:W3CDTF">2025-01-23T20:12:32Z</dcterms:created>
  <dcterms:modified xsi:type="dcterms:W3CDTF">2025-10-06T20:43:31Z</dcterms:modified>
</cp:coreProperties>
</file>